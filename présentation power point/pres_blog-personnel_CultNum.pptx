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Lst>
  <p:sldSz cx="9144000" cy="5143500"/>
  <p:notesSz cx="6858000" cy="9144000"/>
  <p:embeddedFontLst>
    <p:embeddedFont>
      <p:font typeface="Inter SemiBold" panose="02000503000000020004"/>
      <p:bold r:id="rId15"/>
      <p:italic r:id="rId16"/>
      <p:boldItalic r:id="rId17"/>
    </p:embeddedFont>
    <p:embeddedFont>
      <p:font typeface="Inter" panose="02000503000000020004"/>
      <p:bold r:id="rId18"/>
      <p:boldItalic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font" Target="fonts/font5.fntdata"/><Relationship Id="rId18" Type="http://schemas.openxmlformats.org/officeDocument/2006/relationships/font" Target="fonts/font4.fntdata"/><Relationship Id="rId17" Type="http://schemas.openxmlformats.org/officeDocument/2006/relationships/font" Target="fonts/font3.fntdata"/><Relationship Id="rId16" Type="http://schemas.openxmlformats.org/officeDocument/2006/relationships/font" Target="fonts/font2.fntdata"/><Relationship Id="rId15" Type="http://schemas.openxmlformats.org/officeDocument/2006/relationships/font" Target="fonts/font1.fntdata"/><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51" name="Shape 51"/>
        <p:cNvGrpSpPr/>
        <p:nvPr/>
      </p:nvGrpSpPr>
      <p:grpSpPr>
        <a:xfrm>
          <a:off x="0" y="0"/>
          <a:ext cx="0" cy="0"/>
          <a:chOff x="0" y="0"/>
          <a:chExt cx="0" cy="0"/>
        </a:xfrm>
      </p:grpSpPr>
      <p:sp>
        <p:nvSpPr>
          <p:cNvPr id="52" name="Google Shape;52;h6914cfd34b1fe2ef_22_0:notes"/>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 name="Google Shape;53;h6914cfd34b1fe2ef_22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68" name="Shape 68"/>
        <p:cNvGrpSpPr/>
        <p:nvPr/>
      </p:nvGrpSpPr>
      <p:grpSpPr>
        <a:xfrm>
          <a:off x="0" y="0"/>
          <a:ext cx="0" cy="0"/>
          <a:chOff x="0" y="0"/>
          <a:chExt cx="0" cy="0"/>
        </a:xfrm>
      </p:grpSpPr>
      <p:sp>
        <p:nvSpPr>
          <p:cNvPr id="69" name="Google Shape;69;h6914cfd34b1fe2ef_21_0:notes"/>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h6914cfd34b1fe2ef_21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89" name="Shape 89"/>
        <p:cNvGrpSpPr/>
        <p:nvPr/>
      </p:nvGrpSpPr>
      <p:grpSpPr>
        <a:xfrm>
          <a:off x="0" y="0"/>
          <a:ext cx="0" cy="0"/>
          <a:chOff x="0" y="0"/>
          <a:chExt cx="0" cy="0"/>
        </a:xfrm>
      </p:grpSpPr>
      <p:sp>
        <p:nvSpPr>
          <p:cNvPr id="90" name="Google Shape;90;h6914cfd34b1fe2ef_20_0:notes"/>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h6914cfd34b1fe2ef_20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8" name="Shape 108"/>
        <p:cNvGrpSpPr/>
        <p:nvPr/>
      </p:nvGrpSpPr>
      <p:grpSpPr>
        <a:xfrm>
          <a:off x="0" y="0"/>
          <a:ext cx="0" cy="0"/>
          <a:chOff x="0" y="0"/>
          <a:chExt cx="0" cy="0"/>
        </a:xfrm>
      </p:grpSpPr>
      <p:sp>
        <p:nvSpPr>
          <p:cNvPr id="109" name="Google Shape;109;h6914cfd34b1fe2ef_19_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h6914cfd34b1fe2ef_19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2" name="Shape 132"/>
        <p:cNvGrpSpPr/>
        <p:nvPr/>
      </p:nvGrpSpPr>
      <p:grpSpPr>
        <a:xfrm>
          <a:off x="0" y="0"/>
          <a:ext cx="0" cy="0"/>
          <a:chOff x="0" y="0"/>
          <a:chExt cx="0" cy="0"/>
        </a:xfrm>
      </p:grpSpPr>
      <p:sp>
        <p:nvSpPr>
          <p:cNvPr id="133" name="Google Shape;133;h6914cfd34b1fe2ef_18_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h6914cfd34b1fe2ef_18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1" name="Shape 151"/>
        <p:cNvGrpSpPr/>
        <p:nvPr/>
      </p:nvGrpSpPr>
      <p:grpSpPr>
        <a:xfrm>
          <a:off x="0" y="0"/>
          <a:ext cx="0" cy="0"/>
          <a:chOff x="0" y="0"/>
          <a:chExt cx="0" cy="0"/>
        </a:xfrm>
      </p:grpSpPr>
      <p:sp>
        <p:nvSpPr>
          <p:cNvPr id="152" name="Google Shape;152;h6914cfd34b1fe2ef_17_0:notes"/>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h6914cfd34b1fe2ef_17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9" name="Shape 169"/>
        <p:cNvGrpSpPr/>
        <p:nvPr/>
      </p:nvGrpSpPr>
      <p:grpSpPr>
        <a:xfrm>
          <a:off x="0" y="0"/>
          <a:ext cx="0" cy="0"/>
          <a:chOff x="0" y="0"/>
          <a:chExt cx="0" cy="0"/>
        </a:xfrm>
      </p:grpSpPr>
      <p:sp>
        <p:nvSpPr>
          <p:cNvPr id="170" name="Google Shape;170;h6914cfd34b1fe2ef_16_0:notes"/>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h6914cfd34b1fe2ef_16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3" name="Shape 193"/>
        <p:cNvGrpSpPr/>
        <p:nvPr/>
      </p:nvGrpSpPr>
      <p:grpSpPr>
        <a:xfrm>
          <a:off x="0" y="0"/>
          <a:ext cx="0" cy="0"/>
          <a:chOff x="0" y="0"/>
          <a:chExt cx="0" cy="0"/>
        </a:xfrm>
      </p:grpSpPr>
      <p:sp>
        <p:nvSpPr>
          <p:cNvPr id="194" name="Google Shape;194;h6914cfd34b1fe2ef_15_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 name="Google Shape;195;h6914cfd34b1fe2ef_15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Generated (h6914cfd34b1fe2ef_14_0)">
  <p:cSld name="Generated (h6914cfd34b1fe2ef_14_0)">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0" name="Shape 10"/>
        <p:cNvGrpSpPr/>
        <p:nvPr/>
      </p:nvGrpSpPr>
      <p:grpSpPr>
        <a:xfrm>
          <a:off x="0" y="0"/>
          <a:ext cx="0" cy="0"/>
          <a:chOff x="0" y="0"/>
          <a:chExt cx="0" cy="0"/>
        </a:xfrm>
      </p:grpSpPr>
      <p:sp>
        <p:nvSpPr>
          <p:cNvPr id="11" name="Google Shape;11;p3"/>
          <p:cNvSpPr txBox="1"/>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3"/>
          <p:cNvSpPr txBox="1"/>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3"/>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4" name="Shape 14"/>
        <p:cNvGrpSpPr/>
        <p:nvPr/>
      </p:nvGrpSpPr>
      <p:grpSpPr>
        <a:xfrm>
          <a:off x="0" y="0"/>
          <a:ext cx="0" cy="0"/>
          <a:chOff x="0" y="0"/>
          <a:chExt cx="0" cy="0"/>
        </a:xfrm>
      </p:grpSpPr>
      <p:sp>
        <p:nvSpPr>
          <p:cNvPr id="15" name="Google Shape;15;p4"/>
          <p:cNvSpPr txBox="1"/>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4"/>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7" name="Shape 17"/>
        <p:cNvGrpSpPr/>
        <p:nvPr/>
      </p:nvGrpSpPr>
      <p:grpSpPr>
        <a:xfrm>
          <a:off x="0" y="0"/>
          <a:ext cx="0" cy="0"/>
          <a:chOff x="0" y="0"/>
          <a:chExt cx="0" cy="0"/>
        </a:xfrm>
      </p:grpSpPr>
      <p:sp>
        <p:nvSpPr>
          <p:cNvPr id="18" name="Google Shape;18;p5"/>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5"/>
          <p:cNvSpPr txBox="1"/>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20" name="Google Shape;20;p5"/>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21" name="Shape 21"/>
        <p:cNvGrpSpPr/>
        <p:nvPr/>
      </p:nvGrpSpPr>
      <p:grpSpPr>
        <a:xfrm>
          <a:off x="0" y="0"/>
          <a:ext cx="0" cy="0"/>
          <a:chOff x="0" y="0"/>
          <a:chExt cx="0" cy="0"/>
        </a:xfrm>
      </p:grpSpPr>
      <p:sp>
        <p:nvSpPr>
          <p:cNvPr id="22" name="Google Shape;22;p6"/>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 name="Google Shape;23;p6"/>
          <p:cNvSpPr txBox="1"/>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4" name="Google Shape;24;p6"/>
          <p:cNvSpPr txBox="1"/>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5" name="Google Shape;25;p6"/>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26" name="Shape 26"/>
        <p:cNvGrpSpPr/>
        <p:nvPr/>
      </p:nvGrpSpPr>
      <p:grpSpPr>
        <a:xfrm>
          <a:off x="0" y="0"/>
          <a:ext cx="0" cy="0"/>
          <a:chOff x="0" y="0"/>
          <a:chExt cx="0" cy="0"/>
        </a:xfrm>
      </p:grpSpPr>
      <p:sp>
        <p:nvSpPr>
          <p:cNvPr id="27" name="Google Shape;27;p7"/>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 name="Google Shape;28;p7"/>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29" name="Shape 29"/>
        <p:cNvGrpSpPr/>
        <p:nvPr/>
      </p:nvGrpSpPr>
      <p:grpSpPr>
        <a:xfrm>
          <a:off x="0" y="0"/>
          <a:ext cx="0" cy="0"/>
          <a:chOff x="0" y="0"/>
          <a:chExt cx="0" cy="0"/>
        </a:xfrm>
      </p:grpSpPr>
      <p:sp>
        <p:nvSpPr>
          <p:cNvPr id="30" name="Google Shape;30;p8"/>
          <p:cNvSpPr txBox="1"/>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8"/>
          <p:cNvSpPr txBox="1"/>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32" name="Google Shape;32;p8"/>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33" name="Shape 33"/>
        <p:cNvGrpSpPr/>
        <p:nvPr/>
      </p:nvGrpSpPr>
      <p:grpSpPr>
        <a:xfrm>
          <a:off x="0" y="0"/>
          <a:ext cx="0" cy="0"/>
          <a:chOff x="0" y="0"/>
          <a:chExt cx="0" cy="0"/>
        </a:xfrm>
      </p:grpSpPr>
      <p:sp>
        <p:nvSpPr>
          <p:cNvPr id="34" name="Google Shape;34;p9"/>
          <p:cNvSpPr txBox="1"/>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5" name="Google Shape;35;p9"/>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10"/>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 name="Google Shape;38;p10"/>
          <p:cNvSpPr txBox="1"/>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9" name="Google Shape;39;p10"/>
          <p:cNvSpPr txBox="1"/>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0" name="Google Shape;40;p10"/>
          <p:cNvSpPr txBox="1"/>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41" name="Google Shape;41;p10"/>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42" name="Shape 42"/>
        <p:cNvGrpSpPr/>
        <p:nvPr/>
      </p:nvGrpSpPr>
      <p:grpSpPr>
        <a:xfrm>
          <a:off x="0" y="0"/>
          <a:ext cx="0" cy="0"/>
          <a:chOff x="0" y="0"/>
          <a:chExt cx="0" cy="0"/>
        </a:xfrm>
      </p:grpSpPr>
      <p:sp>
        <p:nvSpPr>
          <p:cNvPr id="43" name="Google Shape;43;p11"/>
          <p:cNvSpPr txBox="1"/>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p:txBody>
      </p:sp>
      <p:sp>
        <p:nvSpPr>
          <p:cNvPr id="44" name="Google Shape;44;p11"/>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45" name="Shape 45"/>
        <p:cNvGrpSpPr/>
        <p:nvPr/>
      </p:nvGrpSpPr>
      <p:grpSpPr>
        <a:xfrm>
          <a:off x="0" y="0"/>
          <a:ext cx="0" cy="0"/>
          <a:chOff x="0" y="0"/>
          <a:chExt cx="0" cy="0"/>
        </a:xfrm>
      </p:grpSpPr>
      <p:sp>
        <p:nvSpPr>
          <p:cNvPr id="46" name="Google Shape;46;p12"/>
          <p:cNvSpPr txBox="1"/>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 name="Google Shape;47;p12"/>
          <p:cNvSpPr txBox="1"/>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p:txBody>
      </p:sp>
      <p:sp>
        <p:nvSpPr>
          <p:cNvPr id="48" name="Google Shape;48;p1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49" name="Shape 49"/>
        <p:cNvGrpSpPr/>
        <p:nvPr/>
      </p:nvGrpSpPr>
      <p:grpSpPr>
        <a:xfrm>
          <a:off x="0" y="0"/>
          <a:ext cx="0" cy="0"/>
          <a:chOff x="0" y="0"/>
          <a:chExt cx="0" cy="0"/>
        </a:xfrm>
      </p:grpSpPr>
      <p:sp>
        <p:nvSpPr>
          <p:cNvPr id="50" name="Google Shape;50;p13"/>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xml"/><Relationship Id="rId2" Type="http://schemas.openxmlformats.org/officeDocument/2006/relationships/image" Target="../media/image6.pn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54" name="Shape 54"/>
        <p:cNvGrpSpPr/>
        <p:nvPr/>
      </p:nvGrpSpPr>
      <p:grpSpPr>
        <a:xfrm>
          <a:off x="0" y="0"/>
          <a:ext cx="0" cy="0"/>
          <a:chOff x="0" y="0"/>
          <a:chExt cx="0" cy="0"/>
        </a:xfrm>
      </p:grpSpPr>
      <p:grpSp>
        <p:nvGrpSpPr>
          <p:cNvPr id="55" name="Google Shape;55;p14"/>
          <p:cNvGrpSpPr/>
          <p:nvPr/>
        </p:nvGrpSpPr>
        <p:grpSpPr>
          <a:xfrm>
            <a:off x="0" y="0"/>
            <a:ext cx="9144000" cy="5143500"/>
            <a:chOff x="0" y="0"/>
            <a:chExt cx="9144000" cy="5143500"/>
          </a:xfrm>
        </p:grpSpPr>
        <p:sp>
          <p:nvSpPr>
            <p:cNvPr id="56" name="Google Shape;56;p14"/>
            <p:cNvSpPr/>
            <p:nvPr/>
          </p:nvSpPr>
          <p:spPr>
            <a:xfrm>
              <a:off x="0" y="0"/>
              <a:ext cx="9144000" cy="51435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p>
          </p:txBody>
        </p:sp>
        <p:pic>
          <p:nvPicPr>
            <p:cNvPr id="57" name="Google Shape;57;p14"/>
            <p:cNvPicPr preferRelativeResize="0"/>
            <p:nvPr/>
          </p:nvPicPr>
          <p:blipFill rotWithShape="1">
            <a:blip r:embed="rId1"/>
            <a:srcRect/>
            <a:stretch>
              <a:fillRect/>
            </a:stretch>
          </p:blipFill>
          <p:spPr>
            <a:xfrm>
              <a:off x="7243763" y="4763"/>
              <a:ext cx="1743000" cy="4981500"/>
            </a:xfrm>
            <a:prstGeom prst="rect">
              <a:avLst/>
            </a:prstGeom>
            <a:noFill/>
            <a:ln>
              <a:noFill/>
            </a:ln>
          </p:spPr>
        </p:pic>
        <p:grpSp>
          <p:nvGrpSpPr>
            <p:cNvPr id="58" name="Google Shape;58;p14"/>
            <p:cNvGrpSpPr/>
            <p:nvPr/>
          </p:nvGrpSpPr>
          <p:grpSpPr>
            <a:xfrm>
              <a:off x="457200" y="457200"/>
              <a:ext cx="304800" cy="304800"/>
              <a:chOff x="0" y="0"/>
              <a:chExt cx="304800" cy="304800"/>
            </a:xfrm>
          </p:grpSpPr>
          <p:sp>
            <p:nvSpPr>
              <p:cNvPr id="59" name="Google Shape;59;p14"/>
              <p:cNvSpPr/>
              <p:nvPr/>
            </p:nvSpPr>
            <p:spPr>
              <a:xfrm>
                <a:off x="0" y="0"/>
                <a:ext cx="228600" cy="228600"/>
              </a:xfrm>
              <a:prstGeom prst="roundRect">
                <a:avLst>
                  <a:gd name="adj" fmla="val 16666"/>
                </a:avLst>
              </a:prstGeom>
              <a:solidFill>
                <a:srgbClr val="DBEAFE"/>
              </a:solidFill>
              <a:ln>
                <a:noFill/>
              </a:ln>
            </p:spPr>
            <p:txBody>
              <a:bodyPr spcFirstLastPara="1" wrap="square" lIns="0" tIns="0" rIns="0" bIns="0" anchor="ctr" anchorCtr="0">
                <a:noAutofit/>
              </a:bodyPr>
              <a:lstStyle/>
              <a:p>
                <a:pPr marL="0" lvl="0" indent="0" algn="l" rtl="0">
                  <a:spcBef>
                    <a:spcPts val="0"/>
                  </a:spcBef>
                  <a:spcAft>
                    <a:spcPts val="0"/>
                  </a:spcAft>
                  <a:buNone/>
                </a:pPr>
              </a:p>
            </p:txBody>
          </p:sp>
          <p:sp>
            <p:nvSpPr>
              <p:cNvPr id="60" name="Google Shape;60;p14"/>
              <p:cNvSpPr/>
              <p:nvPr/>
            </p:nvSpPr>
            <p:spPr>
              <a:xfrm>
                <a:off x="76200" y="76200"/>
                <a:ext cx="228600" cy="228600"/>
              </a:xfrm>
              <a:prstGeom prst="roundRect">
                <a:avLst>
                  <a:gd name="adj" fmla="val 16666"/>
                </a:avLst>
              </a:prstGeom>
              <a:solidFill>
                <a:srgbClr val="2563EB"/>
              </a:solidFill>
              <a:ln>
                <a:noFill/>
              </a:ln>
            </p:spPr>
            <p:txBody>
              <a:bodyPr spcFirstLastPara="1" wrap="square" lIns="0" tIns="0" rIns="0" bIns="0" anchor="ctr" anchorCtr="0">
                <a:noAutofit/>
              </a:bodyPr>
              <a:lstStyle/>
              <a:p>
                <a:pPr marL="0" lvl="0" indent="0" algn="l" rtl="0">
                  <a:spcBef>
                    <a:spcPts val="0"/>
                  </a:spcBef>
                  <a:spcAft>
                    <a:spcPts val="0"/>
                  </a:spcAft>
                  <a:buNone/>
                </a:pPr>
              </a:p>
            </p:txBody>
          </p:sp>
        </p:grpSp>
        <p:sp>
          <p:nvSpPr>
            <p:cNvPr id="61" name="Google Shape;61;p14"/>
            <p:cNvSpPr txBox="1"/>
            <p:nvPr/>
          </p:nvSpPr>
          <p:spPr>
            <a:xfrm>
              <a:off x="838200" y="457200"/>
              <a:ext cx="2857500" cy="285900"/>
            </a:xfrm>
            <a:prstGeom prst="rect">
              <a:avLst/>
            </a:prstGeom>
            <a:noFill/>
            <a:ln>
              <a:noFill/>
            </a:ln>
          </p:spPr>
          <p:txBody>
            <a:bodyPr spcFirstLastPara="1" wrap="square" lIns="0" tIns="0" rIns="0" bIns="0" anchor="t" anchorCtr="0">
              <a:noAutofit/>
            </a:bodyPr>
            <a:lstStyle/>
            <a:p>
              <a:pPr marL="0" lvl="0" indent="0" algn="l" rtl="0">
                <a:spcBef>
                  <a:spcPts val="0"/>
                </a:spcBef>
                <a:spcAft>
                  <a:spcPts val="300"/>
                </a:spcAft>
                <a:buNone/>
              </a:pPr>
              <a:r>
                <a:rPr lang="en-US" sz="1000" b="0">
                  <a:solidFill>
                    <a:srgbClr val="1A202C"/>
                  </a:solidFill>
                  <a:latin typeface="Inter SemiBold" panose="02000503000000020004"/>
                  <a:ea typeface="Inter SemiBold" panose="02000503000000020004"/>
                  <a:cs typeface="Inter SemiBold" panose="02000503000000020004"/>
                  <a:sym typeface="Inter SemiBold" panose="02000503000000020004"/>
                </a:rPr>
                <a:t>ISTA Projects Hub</a:t>
              </a:r>
              <a:endParaRPr sz="1000" b="0">
                <a:solidFill>
                  <a:srgbClr val="1A202C"/>
                </a:solidFill>
                <a:latin typeface="Inter SemiBold" panose="02000503000000020004"/>
                <a:ea typeface="Inter SemiBold" panose="02000503000000020004"/>
                <a:cs typeface="Inter SemiBold" panose="02000503000000020004"/>
                <a:sym typeface="Inter SemiBold" panose="02000503000000020004"/>
              </a:endParaRPr>
            </a:p>
          </p:txBody>
        </p:sp>
      </p:grpSp>
      <p:sp>
        <p:nvSpPr>
          <p:cNvPr id="62" name="Google Shape;62;p14"/>
          <p:cNvSpPr txBox="1"/>
          <p:nvPr/>
        </p:nvSpPr>
        <p:spPr>
          <a:xfrm>
            <a:off x="457200" y="1238250"/>
            <a:ext cx="6477000" cy="1428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3200" b="1">
                <a:solidFill>
                  <a:srgbClr val="1A202C"/>
                </a:solidFill>
                <a:latin typeface="Inter" panose="02000503000000020004"/>
                <a:ea typeface="Inter" panose="02000503000000020004"/>
                <a:cs typeface="Inter" panose="02000503000000020004"/>
                <a:sym typeface="Inter" panose="02000503000000020004"/>
              </a:rPr>
              <a:t>ISTA Projects Hub — Blog Vitrine</a:t>
            </a:r>
            <a:endParaRPr sz="3200" b="1">
              <a:solidFill>
                <a:srgbClr val="1A202C"/>
              </a:solidFill>
              <a:latin typeface="Inter" panose="02000503000000020004"/>
              <a:ea typeface="Inter" panose="02000503000000020004"/>
              <a:cs typeface="Inter" panose="02000503000000020004"/>
              <a:sym typeface="Inter" panose="02000503000000020004"/>
            </a:endParaRPr>
          </a:p>
          <a:p>
            <a:pPr marL="0" lvl="0" indent="0" algn="l" rtl="0">
              <a:spcBef>
                <a:spcPts val="900"/>
              </a:spcBef>
              <a:spcAft>
                <a:spcPts val="1200"/>
              </a:spcAft>
              <a:buNone/>
            </a:pPr>
            <a:r>
              <a:rPr lang="en-US" sz="2000" b="0">
                <a:solidFill>
                  <a:srgbClr val="2563EB"/>
                </a:solidFill>
                <a:latin typeface="Inter SemiBold" panose="02000503000000020004"/>
                <a:ea typeface="Inter SemiBold" panose="02000503000000020004"/>
                <a:cs typeface="Inter SemiBold" panose="02000503000000020004"/>
                <a:sym typeface="Inter SemiBold" panose="02000503000000020004"/>
              </a:rPr>
              <a:t>Synthèse pratique Web — Module Culture Numérique (EGTSA206)</a:t>
            </a:r>
            <a:endParaRPr sz="2000" b="0">
              <a:solidFill>
                <a:srgbClr val="2563EB"/>
              </a:solidFill>
              <a:latin typeface="Inter SemiBold" panose="02000503000000020004"/>
              <a:ea typeface="Inter SemiBold" panose="02000503000000020004"/>
              <a:cs typeface="Inter SemiBold" panose="02000503000000020004"/>
              <a:sym typeface="Inter SemiBold" panose="02000503000000020004"/>
            </a:endParaRPr>
          </a:p>
        </p:txBody>
      </p:sp>
      <p:grpSp>
        <p:nvGrpSpPr>
          <p:cNvPr id="63" name="Google Shape;63;p14"/>
          <p:cNvGrpSpPr/>
          <p:nvPr/>
        </p:nvGrpSpPr>
        <p:grpSpPr>
          <a:xfrm>
            <a:off x="457200" y="2990850"/>
            <a:ext cx="6667500" cy="1809600"/>
            <a:chOff x="0" y="228600"/>
            <a:chExt cx="6667500" cy="1809600"/>
          </a:xfrm>
        </p:grpSpPr>
        <p:sp>
          <p:nvSpPr>
            <p:cNvPr id="64" name="Google Shape;64;p14"/>
            <p:cNvSpPr/>
            <p:nvPr/>
          </p:nvSpPr>
          <p:spPr>
            <a:xfrm>
              <a:off x="0" y="228600"/>
              <a:ext cx="3048000" cy="1809600"/>
            </a:xfrm>
            <a:prstGeom prst="roundRect">
              <a:avLst>
                <a:gd name="adj" fmla="val 4210"/>
              </a:avLst>
            </a:prstGeom>
            <a:solidFill>
              <a:srgbClr val="F8F9FA"/>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p>
          </p:txBody>
        </p:sp>
        <p:sp>
          <p:nvSpPr>
            <p:cNvPr id="65" name="Google Shape;65;p14"/>
            <p:cNvSpPr txBox="1"/>
            <p:nvPr/>
          </p:nvSpPr>
          <p:spPr>
            <a:xfrm>
              <a:off x="228600" y="228600"/>
              <a:ext cx="2590800" cy="1352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000" b="0">
                  <a:solidFill>
                    <a:srgbClr val="2563EB"/>
                  </a:solidFill>
                  <a:latin typeface="Inter SemiBold" panose="02000503000000020004"/>
                  <a:ea typeface="Inter SemiBold" panose="02000503000000020004"/>
                  <a:cs typeface="Inter SemiBold" panose="02000503000000020004"/>
                  <a:sym typeface="Inter SemiBold" panose="02000503000000020004"/>
                </a:rPr>
                <a:t>Contexte &amp; Formation</a:t>
              </a:r>
              <a:endParaRPr sz="1000" b="0">
                <a:solidFill>
                  <a:srgbClr val="2563EB"/>
                </a:solidFill>
                <a:latin typeface="Inter SemiBold" panose="02000503000000020004"/>
                <a:ea typeface="Inter SemiBold" panose="02000503000000020004"/>
                <a:cs typeface="Inter SemiBold" panose="02000503000000020004"/>
                <a:sym typeface="Inter SemiBold" panose="02000503000000020004"/>
              </a:endParaRPr>
            </a:p>
            <a:p>
              <a:pPr marL="0" lvl="0" indent="0" algn="l" rtl="0">
                <a:spcBef>
                  <a:spcPts val="600"/>
                </a:spcBef>
                <a:spcAft>
                  <a:spcPts val="0"/>
                </a:spcAft>
                <a:buNone/>
              </a:pPr>
              <a:r>
                <a:rPr lang="en-US" sz="1400" b="0">
                  <a:solidFill>
                    <a:srgbClr val="1A202C"/>
                  </a:solidFill>
                  <a:latin typeface="Inter SemiBold" panose="02000503000000020004"/>
                  <a:ea typeface="Inter SemiBold" panose="02000503000000020004"/>
                  <a:cs typeface="Inter SemiBold" panose="02000503000000020004"/>
                  <a:sym typeface="Inter SemiBold" panose="02000503000000020004"/>
                </a:rPr>
                <a:t>OFPPT — ISTA Hay Hassani 1</a:t>
              </a:r>
              <a:endParaRPr sz="1400" b="0">
                <a:solidFill>
                  <a:srgbClr val="1A202C"/>
                </a:solidFill>
                <a:latin typeface="Inter SemiBold" panose="02000503000000020004"/>
                <a:ea typeface="Inter SemiBold" panose="02000503000000020004"/>
                <a:cs typeface="Inter SemiBold" panose="02000503000000020004"/>
                <a:sym typeface="Inter SemiBold" panose="02000503000000020004"/>
              </a:endParaRPr>
            </a:p>
            <a:p>
              <a:pPr marL="0" lvl="0" indent="0" algn="l" rtl="0">
                <a:spcBef>
                  <a:spcPts val="300"/>
                </a:spcBef>
                <a:spcAft>
                  <a:spcPts val="0"/>
                </a:spcAft>
                <a:buNone/>
              </a:pPr>
              <a:r>
                <a:rPr lang="en-US" sz="1300" b="0">
                  <a:solidFill>
                    <a:srgbClr val="4A5568"/>
                  </a:solidFill>
                  <a:latin typeface="Inter" panose="02000503000000020004"/>
                  <a:ea typeface="Inter" panose="02000503000000020004"/>
                  <a:cs typeface="Inter" panose="02000503000000020004"/>
                  <a:sym typeface="Inter" panose="02000503000000020004"/>
                </a:rPr>
                <a:t>Développement Digital (Full-Stack)</a:t>
              </a:r>
              <a:endParaRPr sz="1300" b="0">
                <a:solidFill>
                  <a:srgbClr val="4A5568"/>
                </a:solidFill>
                <a:latin typeface="Inter" panose="02000503000000020004"/>
                <a:ea typeface="Inter" panose="02000503000000020004"/>
                <a:cs typeface="Inter" panose="02000503000000020004"/>
                <a:sym typeface="Inter" panose="02000503000000020004"/>
              </a:endParaRPr>
            </a:p>
            <a:p>
              <a:pPr marL="0" lvl="0" indent="0" algn="l" rtl="0">
                <a:spcBef>
                  <a:spcPts val="300"/>
                </a:spcBef>
                <a:spcAft>
                  <a:spcPts val="900"/>
                </a:spcAft>
                <a:buNone/>
              </a:pPr>
              <a:r>
                <a:rPr lang="en-US" sz="1300" b="0">
                  <a:solidFill>
                    <a:srgbClr val="2563EB"/>
                  </a:solidFill>
                  <a:latin typeface="Inter SemiBold" panose="02000503000000020004"/>
                  <a:ea typeface="Inter SemiBold" panose="02000503000000020004"/>
                  <a:cs typeface="Inter SemiBold" panose="02000503000000020004"/>
                  <a:sym typeface="Inter SemiBold" panose="02000503000000020004"/>
                </a:rPr>
                <a:t>Groupe : DEVOWFS 202</a:t>
              </a:r>
              <a:endParaRPr sz="1300" b="0">
                <a:solidFill>
                  <a:srgbClr val="2563EB"/>
                </a:solidFill>
                <a:latin typeface="Inter SemiBold" panose="02000503000000020004"/>
                <a:ea typeface="Inter SemiBold" panose="02000503000000020004"/>
                <a:cs typeface="Inter SemiBold" panose="02000503000000020004"/>
                <a:sym typeface="Inter SemiBold" panose="02000503000000020004"/>
              </a:endParaRPr>
            </a:p>
          </p:txBody>
        </p:sp>
        <p:sp>
          <p:nvSpPr>
            <p:cNvPr id="66" name="Google Shape;66;p14"/>
            <p:cNvSpPr/>
            <p:nvPr/>
          </p:nvSpPr>
          <p:spPr>
            <a:xfrm>
              <a:off x="3276600" y="228600"/>
              <a:ext cx="3390900" cy="1809600"/>
            </a:xfrm>
            <a:prstGeom prst="roundRect">
              <a:avLst>
                <a:gd name="adj" fmla="val 4210"/>
              </a:avLst>
            </a:prstGeom>
            <a:solidFill>
              <a:srgbClr val="F8F9FA"/>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p>
          </p:txBody>
        </p:sp>
        <p:sp>
          <p:nvSpPr>
            <p:cNvPr id="67" name="Google Shape;67;p14"/>
            <p:cNvSpPr txBox="1"/>
            <p:nvPr/>
          </p:nvSpPr>
          <p:spPr>
            <a:xfrm>
              <a:off x="3505200" y="228600"/>
              <a:ext cx="2933700" cy="1352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000" b="0">
                  <a:solidFill>
                    <a:srgbClr val="2563EB"/>
                  </a:solidFill>
                  <a:latin typeface="Inter SemiBold" panose="02000503000000020004"/>
                  <a:ea typeface="Inter SemiBold" panose="02000503000000020004"/>
                  <a:cs typeface="Inter SemiBold" panose="02000503000000020004"/>
                  <a:sym typeface="Inter SemiBold" panose="02000503000000020004"/>
                </a:rPr>
                <a:t>Équipe Projet</a:t>
              </a:r>
              <a:endParaRPr sz="1000" b="0">
                <a:solidFill>
                  <a:srgbClr val="2563EB"/>
                </a:solidFill>
                <a:latin typeface="Inter SemiBold" panose="02000503000000020004"/>
                <a:ea typeface="Inter SemiBold" panose="02000503000000020004"/>
                <a:cs typeface="Inter SemiBold" panose="02000503000000020004"/>
                <a:sym typeface="Inter SemiBold" panose="02000503000000020004"/>
              </a:endParaRPr>
            </a:p>
            <a:p>
              <a:pPr marL="0" lvl="0" indent="0" algn="l" rtl="0">
                <a:spcBef>
                  <a:spcPts val="600"/>
                </a:spcBef>
                <a:spcAft>
                  <a:spcPts val="0"/>
                </a:spcAft>
                <a:buNone/>
              </a:pPr>
              <a:r>
                <a:rPr lang="en-US">
                  <a:solidFill>
                    <a:srgbClr val="1A202C"/>
                  </a:solidFill>
                  <a:latin typeface="Inter SemiBold" panose="02000503000000020004"/>
                  <a:ea typeface="Inter SemiBold" panose="02000503000000020004"/>
                  <a:cs typeface="Inter SemiBold" panose="02000503000000020004"/>
                  <a:sym typeface="Inter SemiBold" panose="02000503000000020004"/>
                </a:rPr>
                <a:t>Yassine DINAR </a:t>
              </a:r>
              <a:endParaRPr>
                <a:solidFill>
                  <a:srgbClr val="1A202C"/>
                </a:solidFill>
                <a:latin typeface="Inter SemiBold" panose="02000503000000020004"/>
                <a:ea typeface="Inter SemiBold" panose="02000503000000020004"/>
                <a:cs typeface="Inter SemiBold" panose="02000503000000020004"/>
                <a:sym typeface="Inter SemiBold" panose="02000503000000020004"/>
              </a:endParaRPr>
            </a:p>
            <a:p>
              <a:pPr marL="0" lvl="0" indent="0" algn="l" rtl="0">
                <a:spcBef>
                  <a:spcPts val="600"/>
                </a:spcBef>
                <a:spcAft>
                  <a:spcPts val="0"/>
                </a:spcAft>
                <a:buNone/>
              </a:pPr>
              <a:r>
                <a:rPr lang="en-US" sz="1400" b="0">
                  <a:solidFill>
                    <a:srgbClr val="1A202C"/>
                  </a:solidFill>
                  <a:latin typeface="Inter SemiBold" panose="02000503000000020004"/>
                  <a:ea typeface="Inter SemiBold" panose="02000503000000020004"/>
                  <a:cs typeface="Inter SemiBold" panose="02000503000000020004"/>
                  <a:sym typeface="Inter SemiBold" panose="02000503000000020004"/>
                </a:rPr>
                <a:t>Saad ZIGHEM</a:t>
              </a:r>
              <a:endParaRPr sz="1400" b="0">
                <a:solidFill>
                  <a:srgbClr val="1A202C"/>
                </a:solidFill>
                <a:latin typeface="Inter SemiBold" panose="02000503000000020004"/>
                <a:ea typeface="Inter SemiBold" panose="02000503000000020004"/>
                <a:cs typeface="Inter SemiBold" panose="02000503000000020004"/>
                <a:sym typeface="Inter SemiBold" panose="02000503000000020004"/>
              </a:endParaRPr>
            </a:p>
            <a:p>
              <a:pPr marL="0" lvl="0" indent="0" algn="l" rtl="0">
                <a:spcBef>
                  <a:spcPts val="450"/>
                </a:spcBef>
                <a:spcAft>
                  <a:spcPts val="0"/>
                </a:spcAft>
                <a:buNone/>
              </a:pPr>
              <a:r>
                <a:rPr lang="en-US" sz="1400" b="0">
                  <a:solidFill>
                    <a:srgbClr val="1A202C"/>
                  </a:solidFill>
                  <a:latin typeface="Inter SemiBold" panose="02000503000000020004"/>
                  <a:ea typeface="Inter SemiBold" panose="02000503000000020004"/>
                  <a:cs typeface="Inter SemiBold" panose="02000503000000020004"/>
                  <a:sym typeface="Inter SemiBold" panose="02000503000000020004"/>
                </a:rPr>
                <a:t>Mohamed KARIM</a:t>
              </a:r>
              <a:endParaRPr>
                <a:solidFill>
                  <a:srgbClr val="1A202C"/>
                </a:solidFill>
                <a:latin typeface="Inter SemiBold" panose="02000503000000020004"/>
                <a:ea typeface="Inter SemiBold" panose="02000503000000020004"/>
                <a:cs typeface="Inter SemiBold" panose="02000503000000020004"/>
                <a:sym typeface="Inter SemiBold" panose="02000503000000020004"/>
              </a:endParaRPr>
            </a:p>
            <a:p>
              <a:pPr marL="0" lvl="0" indent="0" algn="l" rtl="0">
                <a:spcBef>
                  <a:spcPts val="450"/>
                </a:spcBef>
                <a:spcAft>
                  <a:spcPts val="0"/>
                </a:spcAft>
                <a:buNone/>
              </a:pPr>
              <a:r>
                <a:rPr lang="en-US" sz="1400" b="0">
                  <a:solidFill>
                    <a:srgbClr val="1A202C"/>
                  </a:solidFill>
                  <a:latin typeface="Inter SemiBold" panose="02000503000000020004"/>
                  <a:ea typeface="Inter SemiBold" panose="02000503000000020004"/>
                  <a:cs typeface="Inter SemiBold" panose="02000503000000020004"/>
                  <a:sym typeface="Inter SemiBold" panose="02000503000000020004"/>
                </a:rPr>
                <a:t>Reda ZAKARIA</a:t>
              </a:r>
              <a:endParaRPr sz="1400" b="0">
                <a:solidFill>
                  <a:srgbClr val="1A202C"/>
                </a:solidFill>
                <a:latin typeface="Inter SemiBold" panose="02000503000000020004"/>
                <a:ea typeface="Inter SemiBold" panose="02000503000000020004"/>
                <a:cs typeface="Inter SemiBold" panose="02000503000000020004"/>
                <a:sym typeface="Inter SemiBold" panose="02000503000000020004"/>
              </a:endParaRPr>
            </a:p>
            <a:p>
              <a:pPr marL="0" lvl="0" indent="0" algn="l" rtl="0">
                <a:spcBef>
                  <a:spcPts val="450"/>
                </a:spcBef>
                <a:spcAft>
                  <a:spcPts val="0"/>
                </a:spcAft>
                <a:buNone/>
              </a:pPr>
              <a:endParaRPr>
                <a:solidFill>
                  <a:srgbClr val="1A202C"/>
                </a:solidFill>
                <a:latin typeface="Inter SemiBold" panose="02000503000000020004"/>
                <a:ea typeface="Inter SemiBold" panose="02000503000000020004"/>
                <a:cs typeface="Inter SemiBold" panose="02000503000000020004"/>
                <a:sym typeface="Inter SemiBold" panose="02000503000000020004"/>
              </a:endParaRPr>
            </a:p>
            <a:p>
              <a:pPr marL="0" lvl="0" indent="0" algn="l" rtl="0">
                <a:spcBef>
                  <a:spcPts val="0"/>
                </a:spcBef>
                <a:spcAft>
                  <a:spcPts val="0"/>
                </a:spcAft>
                <a:buNone/>
              </a:pPr>
              <a:endParaRPr>
                <a:solidFill>
                  <a:srgbClr val="1A202C"/>
                </a:solidFill>
                <a:latin typeface="Inter SemiBold" panose="02000503000000020004"/>
                <a:ea typeface="Inter SemiBold" panose="02000503000000020004"/>
                <a:cs typeface="Inter SemiBold" panose="02000503000000020004"/>
                <a:sym typeface="Inter SemiBold" panose="02000503000000020004"/>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71" name="Shape 71"/>
        <p:cNvGrpSpPr/>
        <p:nvPr/>
      </p:nvGrpSpPr>
      <p:grpSpPr>
        <a:xfrm>
          <a:off x="0" y="0"/>
          <a:ext cx="0" cy="0"/>
          <a:chOff x="0" y="0"/>
          <a:chExt cx="0" cy="0"/>
        </a:xfrm>
      </p:grpSpPr>
      <p:grpSp>
        <p:nvGrpSpPr>
          <p:cNvPr id="72" name="Google Shape;72;p15"/>
          <p:cNvGrpSpPr/>
          <p:nvPr/>
        </p:nvGrpSpPr>
        <p:grpSpPr>
          <a:xfrm>
            <a:off x="457200" y="304800"/>
            <a:ext cx="9144000" cy="571650"/>
            <a:chOff x="457200" y="304800"/>
            <a:chExt cx="9144000" cy="571650"/>
          </a:xfrm>
        </p:grpSpPr>
        <p:grpSp>
          <p:nvGrpSpPr>
            <p:cNvPr id="73" name="Google Shape;73;p15"/>
            <p:cNvGrpSpPr/>
            <p:nvPr/>
          </p:nvGrpSpPr>
          <p:grpSpPr>
            <a:xfrm>
              <a:off x="8458200" y="304800"/>
              <a:ext cx="304800" cy="304800"/>
              <a:chOff x="0" y="0"/>
              <a:chExt cx="304800" cy="304800"/>
            </a:xfrm>
          </p:grpSpPr>
          <p:sp>
            <p:nvSpPr>
              <p:cNvPr id="74" name="Google Shape;74;p15"/>
              <p:cNvSpPr/>
              <p:nvPr/>
            </p:nvSpPr>
            <p:spPr>
              <a:xfrm>
                <a:off x="0" y="0"/>
                <a:ext cx="228600" cy="228600"/>
              </a:xfrm>
              <a:prstGeom prst="roundRect">
                <a:avLst>
                  <a:gd name="adj" fmla="val 16666"/>
                </a:avLst>
              </a:prstGeom>
              <a:solidFill>
                <a:srgbClr val="DBEAFE"/>
              </a:solidFill>
              <a:ln>
                <a:noFill/>
              </a:ln>
            </p:spPr>
            <p:txBody>
              <a:bodyPr spcFirstLastPara="1" wrap="square" lIns="0" tIns="0" rIns="0" bIns="0" anchor="ctr" anchorCtr="0">
                <a:noAutofit/>
              </a:bodyPr>
              <a:lstStyle/>
              <a:p>
                <a:pPr marL="0" lvl="0" indent="0" algn="l" rtl="0">
                  <a:spcBef>
                    <a:spcPts val="0"/>
                  </a:spcBef>
                  <a:spcAft>
                    <a:spcPts val="0"/>
                  </a:spcAft>
                  <a:buNone/>
                </a:pPr>
              </a:p>
            </p:txBody>
          </p:sp>
          <p:sp>
            <p:nvSpPr>
              <p:cNvPr id="75" name="Google Shape;75;p15"/>
              <p:cNvSpPr/>
              <p:nvPr/>
            </p:nvSpPr>
            <p:spPr>
              <a:xfrm>
                <a:off x="76200" y="76200"/>
                <a:ext cx="228600" cy="228600"/>
              </a:xfrm>
              <a:prstGeom prst="roundRect">
                <a:avLst>
                  <a:gd name="adj" fmla="val 16666"/>
                </a:avLst>
              </a:prstGeom>
              <a:solidFill>
                <a:srgbClr val="2563EB"/>
              </a:solidFill>
              <a:ln>
                <a:noFill/>
              </a:ln>
            </p:spPr>
            <p:txBody>
              <a:bodyPr spcFirstLastPara="1" wrap="square" lIns="0" tIns="0" rIns="0" bIns="0" anchor="ctr" anchorCtr="0">
                <a:noAutofit/>
              </a:bodyPr>
              <a:lstStyle/>
              <a:p>
                <a:pPr marL="0" lvl="0" indent="0" algn="l" rtl="0">
                  <a:spcBef>
                    <a:spcPts val="0"/>
                  </a:spcBef>
                  <a:spcAft>
                    <a:spcPts val="0"/>
                  </a:spcAft>
                  <a:buNone/>
                </a:pPr>
              </a:p>
            </p:txBody>
          </p:sp>
        </p:grpSp>
        <p:pic>
          <p:nvPicPr>
            <p:cNvPr id="76" name="Google Shape;76;p15"/>
            <p:cNvPicPr preferRelativeResize="0"/>
            <p:nvPr/>
          </p:nvPicPr>
          <p:blipFill rotWithShape="1">
            <a:blip r:embed="rId1"/>
            <a:srcRect/>
            <a:stretch>
              <a:fillRect/>
            </a:stretch>
          </p:blipFill>
          <p:spPr>
            <a:xfrm>
              <a:off x="457200" y="857250"/>
              <a:ext cx="9144000" cy="19200"/>
            </a:xfrm>
            <a:prstGeom prst="rect">
              <a:avLst/>
            </a:prstGeom>
            <a:noFill/>
            <a:ln>
              <a:noFill/>
            </a:ln>
          </p:spPr>
        </p:pic>
      </p:grpSp>
      <p:sp>
        <p:nvSpPr>
          <p:cNvPr id="77" name="Google Shape;77;p15"/>
          <p:cNvSpPr txBox="1"/>
          <p:nvPr/>
        </p:nvSpPr>
        <p:spPr>
          <a:xfrm>
            <a:off x="457200" y="285750"/>
            <a:ext cx="7810500" cy="476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2210" b="1">
                <a:solidFill>
                  <a:srgbClr val="1A202C"/>
                </a:solidFill>
                <a:latin typeface="Inter" panose="02000503000000020004"/>
                <a:ea typeface="Inter" panose="02000503000000020004"/>
                <a:cs typeface="Inter" panose="02000503000000020004"/>
                <a:sym typeface="Inter" panose="02000503000000020004"/>
              </a:rPr>
              <a:t>Création d'une plateforme centralisée 100% Vanilla Web</a:t>
            </a:r>
            <a:endParaRPr sz="2210" b="1">
              <a:solidFill>
                <a:srgbClr val="1A202C"/>
              </a:solidFill>
              <a:latin typeface="Inter" panose="02000503000000020004"/>
              <a:ea typeface="Inter" panose="02000503000000020004"/>
              <a:cs typeface="Inter" panose="02000503000000020004"/>
              <a:sym typeface="Inter" panose="02000503000000020004"/>
            </a:endParaRPr>
          </a:p>
        </p:txBody>
      </p:sp>
      <p:grpSp>
        <p:nvGrpSpPr>
          <p:cNvPr id="78" name="Google Shape;78;p15"/>
          <p:cNvGrpSpPr/>
          <p:nvPr/>
        </p:nvGrpSpPr>
        <p:grpSpPr>
          <a:xfrm>
            <a:off x="457200" y="1143000"/>
            <a:ext cx="3905400" cy="3524175"/>
            <a:chOff x="0" y="0"/>
            <a:chExt cx="3905400" cy="3524175"/>
          </a:xfrm>
        </p:grpSpPr>
        <p:grpSp>
          <p:nvGrpSpPr>
            <p:cNvPr id="79" name="Google Shape;79;p15"/>
            <p:cNvGrpSpPr/>
            <p:nvPr/>
          </p:nvGrpSpPr>
          <p:grpSpPr>
            <a:xfrm>
              <a:off x="0" y="0"/>
              <a:ext cx="3905400" cy="1666800"/>
              <a:chOff x="0" y="0"/>
              <a:chExt cx="3905400" cy="1666800"/>
            </a:xfrm>
          </p:grpSpPr>
          <p:sp>
            <p:nvSpPr>
              <p:cNvPr id="80" name="Google Shape;80;p15"/>
              <p:cNvSpPr/>
              <p:nvPr/>
            </p:nvSpPr>
            <p:spPr>
              <a:xfrm>
                <a:off x="0" y="0"/>
                <a:ext cx="3905400" cy="1666800"/>
              </a:xfrm>
              <a:prstGeom prst="roundRect">
                <a:avLst>
                  <a:gd name="adj" fmla="val 4571"/>
                </a:avLst>
              </a:prstGeom>
              <a:solidFill>
                <a:srgbClr val="F8F9FA"/>
              </a:solidFill>
              <a:ln>
                <a:noFill/>
              </a:ln>
            </p:spPr>
            <p:txBody>
              <a:bodyPr spcFirstLastPara="1" wrap="square" lIns="0" tIns="0" rIns="0" bIns="0" anchor="ctr" anchorCtr="0">
                <a:noAutofit/>
              </a:bodyPr>
              <a:lstStyle/>
              <a:p>
                <a:pPr marL="0" lvl="0" indent="0" algn="l" rtl="0">
                  <a:spcBef>
                    <a:spcPts val="0"/>
                  </a:spcBef>
                  <a:spcAft>
                    <a:spcPts val="0"/>
                  </a:spcAft>
                  <a:buNone/>
                </a:pPr>
              </a:p>
            </p:txBody>
          </p:sp>
          <p:sp>
            <p:nvSpPr>
              <p:cNvPr id="81" name="Google Shape;81;p15"/>
              <p:cNvSpPr txBox="1"/>
              <p:nvPr/>
            </p:nvSpPr>
            <p:spPr>
              <a:xfrm>
                <a:off x="228600" y="190500"/>
                <a:ext cx="3448200" cy="1285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000" b="0">
                    <a:solidFill>
                      <a:srgbClr val="2563EB"/>
                    </a:solidFill>
                    <a:latin typeface="Inter SemiBold" panose="02000503000000020004"/>
                    <a:ea typeface="Inter SemiBold" panose="02000503000000020004"/>
                    <a:cs typeface="Inter SemiBold" panose="02000503000000020004"/>
                    <a:sym typeface="Inter SemiBold" panose="02000503000000020004"/>
                  </a:rPr>
                  <a:t>Constat Initial</a:t>
                </a:r>
                <a:endParaRPr sz="1000" b="0">
                  <a:solidFill>
                    <a:srgbClr val="2563EB"/>
                  </a:solidFill>
                  <a:latin typeface="Inter SemiBold" panose="02000503000000020004"/>
                  <a:ea typeface="Inter SemiBold" panose="02000503000000020004"/>
                  <a:cs typeface="Inter SemiBold" panose="02000503000000020004"/>
                  <a:sym typeface="Inter SemiBold" panose="02000503000000020004"/>
                </a:endParaRPr>
              </a:p>
              <a:p>
                <a:pPr marL="0" lvl="0" indent="0" algn="l" rtl="0">
                  <a:spcBef>
                    <a:spcPts val="450"/>
                  </a:spcBef>
                  <a:spcAft>
                    <a:spcPts val="0"/>
                  </a:spcAft>
                  <a:buNone/>
                </a:pPr>
                <a:r>
                  <a:rPr lang="en-US" sz="1500" b="1">
                    <a:solidFill>
                      <a:srgbClr val="1A202C"/>
                    </a:solidFill>
                    <a:latin typeface="Inter" panose="02000503000000020004"/>
                    <a:ea typeface="Inter" panose="02000503000000020004"/>
                    <a:cs typeface="Inter" panose="02000503000000020004"/>
                    <a:sym typeface="Inter" panose="02000503000000020004"/>
                  </a:rPr>
                  <a:t>Problématique</a:t>
                </a:r>
                <a:endParaRPr sz="1500" b="1">
                  <a:solidFill>
                    <a:srgbClr val="1A202C"/>
                  </a:solidFill>
                  <a:latin typeface="Inter" panose="02000503000000020004"/>
                  <a:ea typeface="Inter" panose="02000503000000020004"/>
                  <a:cs typeface="Inter" panose="02000503000000020004"/>
                  <a:sym typeface="Inter" panose="02000503000000020004"/>
                </a:endParaRPr>
              </a:p>
              <a:p>
                <a:pPr marL="0" lvl="0" indent="0" algn="l" rtl="0">
                  <a:spcBef>
                    <a:spcPts val="600"/>
                  </a:spcBef>
                  <a:spcAft>
                    <a:spcPts val="0"/>
                  </a:spcAft>
                  <a:buNone/>
                </a:pPr>
                <a:r>
                  <a:rPr lang="en-US" sz="1200" b="0">
                    <a:solidFill>
                      <a:srgbClr val="4A5568"/>
                    </a:solidFill>
                    <a:latin typeface="Inter" panose="02000503000000020004"/>
                    <a:ea typeface="Inter" panose="02000503000000020004"/>
                    <a:cs typeface="Inter" panose="02000503000000020004"/>
                    <a:sym typeface="Inter" panose="02000503000000020004"/>
                  </a:rPr>
                  <a:t>Il était nécessaire de centraliser et de documenter efficacement les réalisations logicielles des stagiaires au sein d'un espace unique.</a:t>
                </a:r>
                <a:endParaRPr sz="1200" b="0">
                  <a:solidFill>
                    <a:srgbClr val="4A5568"/>
                  </a:solidFill>
                  <a:latin typeface="Inter" panose="02000503000000020004"/>
                  <a:ea typeface="Inter" panose="02000503000000020004"/>
                  <a:cs typeface="Inter" panose="02000503000000020004"/>
                  <a:sym typeface="Inter" panose="02000503000000020004"/>
                </a:endParaRPr>
              </a:p>
            </p:txBody>
          </p:sp>
        </p:grpSp>
        <p:grpSp>
          <p:nvGrpSpPr>
            <p:cNvPr id="82" name="Google Shape;82;p15"/>
            <p:cNvGrpSpPr/>
            <p:nvPr/>
          </p:nvGrpSpPr>
          <p:grpSpPr>
            <a:xfrm>
              <a:off x="0" y="1857375"/>
              <a:ext cx="3905400" cy="1666800"/>
              <a:chOff x="0" y="0"/>
              <a:chExt cx="3905400" cy="1666800"/>
            </a:xfrm>
          </p:grpSpPr>
          <p:sp>
            <p:nvSpPr>
              <p:cNvPr id="83" name="Google Shape;83;p15"/>
              <p:cNvSpPr/>
              <p:nvPr/>
            </p:nvSpPr>
            <p:spPr>
              <a:xfrm>
                <a:off x="0" y="0"/>
                <a:ext cx="3905400" cy="1666800"/>
              </a:xfrm>
              <a:prstGeom prst="roundRect">
                <a:avLst>
                  <a:gd name="adj" fmla="val 4571"/>
                </a:avLst>
              </a:prstGeom>
              <a:solidFill>
                <a:srgbClr val="F8F9FA"/>
              </a:solidFill>
              <a:ln>
                <a:noFill/>
              </a:ln>
            </p:spPr>
            <p:txBody>
              <a:bodyPr spcFirstLastPara="1" wrap="square" lIns="0" tIns="0" rIns="0" bIns="0" anchor="ctr" anchorCtr="0">
                <a:noAutofit/>
              </a:bodyPr>
              <a:lstStyle/>
              <a:p>
                <a:pPr marL="0" lvl="0" indent="0" algn="l" rtl="0">
                  <a:spcBef>
                    <a:spcPts val="0"/>
                  </a:spcBef>
                  <a:spcAft>
                    <a:spcPts val="0"/>
                  </a:spcAft>
                  <a:buNone/>
                </a:pPr>
              </a:p>
            </p:txBody>
          </p:sp>
          <p:sp>
            <p:nvSpPr>
              <p:cNvPr id="84" name="Google Shape;84;p15"/>
              <p:cNvSpPr txBox="1"/>
              <p:nvPr/>
            </p:nvSpPr>
            <p:spPr>
              <a:xfrm>
                <a:off x="228600" y="190500"/>
                <a:ext cx="3448200" cy="1285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000" b="0">
                    <a:solidFill>
                      <a:srgbClr val="2563EB"/>
                    </a:solidFill>
                    <a:latin typeface="Inter SemiBold" panose="02000503000000020004"/>
                    <a:ea typeface="Inter SemiBold" panose="02000503000000020004"/>
                    <a:cs typeface="Inter SemiBold" panose="02000503000000020004"/>
                    <a:sym typeface="Inter SemiBold" panose="02000503000000020004"/>
                  </a:rPr>
                  <a:t>Approche Adoptée</a:t>
                </a:r>
                <a:endParaRPr sz="1000" b="0">
                  <a:solidFill>
                    <a:srgbClr val="2563EB"/>
                  </a:solidFill>
                  <a:latin typeface="Inter SemiBold" panose="02000503000000020004"/>
                  <a:ea typeface="Inter SemiBold" panose="02000503000000020004"/>
                  <a:cs typeface="Inter SemiBold" panose="02000503000000020004"/>
                  <a:sym typeface="Inter SemiBold" panose="02000503000000020004"/>
                </a:endParaRPr>
              </a:p>
              <a:p>
                <a:pPr marL="0" lvl="0" indent="0" algn="l" rtl="0">
                  <a:spcBef>
                    <a:spcPts val="450"/>
                  </a:spcBef>
                  <a:spcAft>
                    <a:spcPts val="0"/>
                  </a:spcAft>
                  <a:buNone/>
                </a:pPr>
                <a:r>
                  <a:rPr lang="en-US" sz="1500" b="1">
                    <a:solidFill>
                      <a:srgbClr val="1A202C"/>
                    </a:solidFill>
                    <a:latin typeface="Inter" panose="02000503000000020004"/>
                    <a:ea typeface="Inter" panose="02000503000000020004"/>
                    <a:cs typeface="Inter" panose="02000503000000020004"/>
                    <a:sym typeface="Inter" panose="02000503000000020004"/>
                  </a:rPr>
                  <a:t>Solution</a:t>
                </a:r>
                <a:endParaRPr sz="1500" b="1">
                  <a:solidFill>
                    <a:srgbClr val="1A202C"/>
                  </a:solidFill>
                  <a:latin typeface="Inter" panose="02000503000000020004"/>
                  <a:ea typeface="Inter" panose="02000503000000020004"/>
                  <a:cs typeface="Inter" panose="02000503000000020004"/>
                  <a:sym typeface="Inter" panose="02000503000000020004"/>
                </a:endParaRPr>
              </a:p>
              <a:p>
                <a:pPr marL="0" lvl="0" indent="0" algn="l" rtl="0">
                  <a:spcBef>
                    <a:spcPts val="600"/>
                  </a:spcBef>
                  <a:spcAft>
                    <a:spcPts val="0"/>
                  </a:spcAft>
                  <a:buNone/>
                </a:pPr>
                <a:r>
                  <a:rPr lang="en-US" sz="1200" b="0">
                    <a:solidFill>
                      <a:srgbClr val="4A5568"/>
                    </a:solidFill>
                    <a:latin typeface="Inter" panose="02000503000000020004"/>
                    <a:ea typeface="Inter" panose="02000503000000020004"/>
                    <a:cs typeface="Inter" panose="02000503000000020004"/>
                    <a:sym typeface="Inter" panose="02000503000000020004"/>
                  </a:rPr>
                  <a:t>L'équipe a développé une plateforme web interactive conçue pour faciliter la découverte et l'exploration des différents projets de la promotion.</a:t>
                </a:r>
                <a:endParaRPr sz="1200" b="0">
                  <a:solidFill>
                    <a:srgbClr val="4A5568"/>
                  </a:solidFill>
                  <a:latin typeface="Inter" panose="02000503000000020004"/>
                  <a:ea typeface="Inter" panose="02000503000000020004"/>
                  <a:cs typeface="Inter" panose="02000503000000020004"/>
                  <a:sym typeface="Inter" panose="02000503000000020004"/>
                </a:endParaRPr>
              </a:p>
            </p:txBody>
          </p:sp>
        </p:grpSp>
      </p:grpSp>
      <p:grpSp>
        <p:nvGrpSpPr>
          <p:cNvPr id="85" name="Google Shape;85;p15"/>
          <p:cNvGrpSpPr/>
          <p:nvPr/>
        </p:nvGrpSpPr>
        <p:grpSpPr>
          <a:xfrm>
            <a:off x="4781550" y="1143000"/>
            <a:ext cx="3905400" cy="3524400"/>
            <a:chOff x="0" y="0"/>
            <a:chExt cx="3905400" cy="3524400"/>
          </a:xfrm>
        </p:grpSpPr>
        <p:sp>
          <p:nvSpPr>
            <p:cNvPr id="86" name="Google Shape;86;p15"/>
            <p:cNvSpPr/>
            <p:nvPr/>
          </p:nvSpPr>
          <p:spPr>
            <a:xfrm>
              <a:off x="0" y="0"/>
              <a:ext cx="3905400" cy="3524400"/>
            </a:xfrm>
            <a:prstGeom prst="roundRect">
              <a:avLst>
                <a:gd name="adj" fmla="val 2162"/>
              </a:avLst>
            </a:prstGeom>
            <a:solidFill>
              <a:srgbClr val="F8F9FA"/>
            </a:solidFill>
            <a:ln>
              <a:noFill/>
            </a:ln>
          </p:spPr>
          <p:txBody>
            <a:bodyPr spcFirstLastPara="1" wrap="square" lIns="0" tIns="0" rIns="0" bIns="0" anchor="ctr" anchorCtr="0">
              <a:noAutofit/>
            </a:bodyPr>
            <a:lstStyle/>
            <a:p>
              <a:pPr marL="0" lvl="0" indent="0" algn="l" rtl="0">
                <a:spcBef>
                  <a:spcPts val="0"/>
                </a:spcBef>
                <a:spcAft>
                  <a:spcPts val="0"/>
                </a:spcAft>
                <a:buNone/>
              </a:pPr>
            </a:p>
          </p:txBody>
        </p:sp>
        <p:sp>
          <p:nvSpPr>
            <p:cNvPr id="87" name="Google Shape;87;p15"/>
            <p:cNvSpPr/>
            <p:nvPr/>
          </p:nvSpPr>
          <p:spPr>
            <a:xfrm>
              <a:off x="0" y="0"/>
              <a:ext cx="57300" cy="3524400"/>
            </a:xfrm>
            <a:prstGeom prst="roundRect">
              <a:avLst>
                <a:gd name="adj" fmla="val 33333"/>
              </a:avLst>
            </a:prstGeom>
            <a:solidFill>
              <a:srgbClr val="2563EB"/>
            </a:solidFill>
            <a:ln>
              <a:noFill/>
            </a:ln>
          </p:spPr>
          <p:txBody>
            <a:bodyPr spcFirstLastPara="1" wrap="square" lIns="0" tIns="0" rIns="0" bIns="0" anchor="ctr" anchorCtr="0">
              <a:noAutofit/>
            </a:bodyPr>
            <a:lstStyle/>
            <a:p>
              <a:pPr marL="0" lvl="0" indent="0" algn="l" rtl="0">
                <a:spcBef>
                  <a:spcPts val="0"/>
                </a:spcBef>
                <a:spcAft>
                  <a:spcPts val="0"/>
                </a:spcAft>
                <a:buNone/>
              </a:pPr>
            </a:p>
          </p:txBody>
        </p:sp>
        <p:sp>
          <p:nvSpPr>
            <p:cNvPr id="88" name="Google Shape;88;p15"/>
            <p:cNvSpPr txBox="1"/>
            <p:nvPr/>
          </p:nvSpPr>
          <p:spPr>
            <a:xfrm>
              <a:off x="304800" y="304800"/>
              <a:ext cx="3295800" cy="2914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000" b="0">
                  <a:solidFill>
                    <a:srgbClr val="2563EB"/>
                  </a:solidFill>
                  <a:latin typeface="Inter SemiBold" panose="02000503000000020004"/>
                  <a:ea typeface="Inter SemiBold" panose="02000503000000020004"/>
                  <a:cs typeface="Inter SemiBold" panose="02000503000000020004"/>
                  <a:sym typeface="Inter SemiBold" panose="02000503000000020004"/>
                </a:rPr>
                <a:t>Contrainte Technique Majeure</a:t>
              </a:r>
              <a:endParaRPr sz="1000" b="0">
                <a:solidFill>
                  <a:srgbClr val="2563EB"/>
                </a:solidFill>
                <a:latin typeface="Inter SemiBold" panose="02000503000000020004"/>
                <a:ea typeface="Inter SemiBold" panose="02000503000000020004"/>
                <a:cs typeface="Inter SemiBold" panose="02000503000000020004"/>
                <a:sym typeface="Inter SemiBold" panose="02000503000000020004"/>
              </a:endParaRPr>
            </a:p>
            <a:p>
              <a:pPr marL="0" lvl="0" indent="0" algn="l" rtl="0">
                <a:spcBef>
                  <a:spcPts val="450"/>
                </a:spcBef>
                <a:spcAft>
                  <a:spcPts val="0"/>
                </a:spcAft>
                <a:buNone/>
              </a:pPr>
              <a:r>
                <a:rPr lang="en-US" sz="1800" b="1">
                  <a:solidFill>
                    <a:srgbClr val="1A202C"/>
                  </a:solidFill>
                  <a:latin typeface="Inter" panose="02000503000000020004"/>
                  <a:ea typeface="Inter" panose="02000503000000020004"/>
                  <a:cs typeface="Inter" panose="02000503000000020004"/>
                  <a:sym typeface="Inter" panose="02000503000000020004"/>
                </a:rPr>
                <a:t>Exigence Technique</a:t>
              </a:r>
              <a:endParaRPr sz="1800" b="1">
                <a:solidFill>
                  <a:srgbClr val="1A202C"/>
                </a:solidFill>
                <a:latin typeface="Inter" panose="02000503000000020004"/>
                <a:ea typeface="Inter" panose="02000503000000020004"/>
                <a:cs typeface="Inter" panose="02000503000000020004"/>
                <a:sym typeface="Inter" panose="02000503000000020004"/>
              </a:endParaRPr>
            </a:p>
            <a:p>
              <a:pPr marL="0" lvl="0" indent="0" algn="l" rtl="0">
                <a:spcBef>
                  <a:spcPts val="1200"/>
                </a:spcBef>
                <a:spcAft>
                  <a:spcPts val="0"/>
                </a:spcAft>
                <a:buNone/>
              </a:pPr>
              <a:r>
                <a:rPr lang="en-US" sz="1400" b="0">
                  <a:solidFill>
                    <a:srgbClr val="2563EB"/>
                  </a:solidFill>
                  <a:latin typeface="Inter SemiBold" panose="02000503000000020004"/>
                  <a:ea typeface="Inter SemiBold" panose="02000503000000020004"/>
                  <a:cs typeface="Inter SemiBold" panose="02000503000000020004"/>
                  <a:sym typeface="Inter SemiBold" panose="02000503000000020004"/>
                </a:rPr>
                <a:t>100% Vanilla Web (HTML, CSS, JavaScript natifs)</a:t>
              </a:r>
              <a:endParaRPr sz="1400" b="0">
                <a:solidFill>
                  <a:srgbClr val="2563EB"/>
                </a:solidFill>
                <a:latin typeface="Inter SemiBold" panose="02000503000000020004"/>
                <a:ea typeface="Inter SemiBold" panose="02000503000000020004"/>
                <a:cs typeface="Inter SemiBold" panose="02000503000000020004"/>
                <a:sym typeface="Inter SemiBold" panose="02000503000000020004"/>
              </a:endParaRPr>
            </a:p>
            <a:p>
              <a:pPr marL="0" lvl="0" indent="0" algn="l" rtl="0">
                <a:spcBef>
                  <a:spcPts val="900"/>
                </a:spcBef>
                <a:spcAft>
                  <a:spcPts val="0"/>
                </a:spcAft>
                <a:buNone/>
              </a:pPr>
              <a:r>
                <a:rPr lang="en-US" sz="1300" b="0">
                  <a:solidFill>
                    <a:srgbClr val="4A5568"/>
                  </a:solidFill>
                  <a:latin typeface="Inter" panose="02000503000000020004"/>
                  <a:ea typeface="Inter" panose="02000503000000020004"/>
                  <a:cs typeface="Inter" panose="02000503000000020004"/>
                  <a:sym typeface="Inter" panose="02000503000000020004"/>
                </a:rPr>
                <a:t>Le projet a exigé une réalisation intégrale en Vanilla Web, garantissant une maîtrise absolue des fondamentaux sans aucun recours à des frameworks externes.</a:t>
              </a:r>
              <a:endParaRPr sz="1300" b="0">
                <a:solidFill>
                  <a:srgbClr val="4A5568"/>
                </a:solidFill>
                <a:latin typeface="Inter" panose="02000503000000020004"/>
                <a:ea typeface="Inter" panose="02000503000000020004"/>
                <a:cs typeface="Inter" panose="02000503000000020004"/>
                <a:sym typeface="Inter" panose="02000503000000020004"/>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92" name="Shape 92"/>
        <p:cNvGrpSpPr/>
        <p:nvPr/>
      </p:nvGrpSpPr>
      <p:grpSpPr>
        <a:xfrm>
          <a:off x="0" y="0"/>
          <a:ext cx="0" cy="0"/>
          <a:chOff x="0" y="0"/>
          <a:chExt cx="0" cy="0"/>
        </a:xfrm>
      </p:grpSpPr>
      <p:grpSp>
        <p:nvGrpSpPr>
          <p:cNvPr id="93" name="Google Shape;93;p16"/>
          <p:cNvGrpSpPr/>
          <p:nvPr/>
        </p:nvGrpSpPr>
        <p:grpSpPr>
          <a:xfrm>
            <a:off x="0" y="0"/>
            <a:ext cx="9144000" cy="5143500"/>
            <a:chOff x="0" y="0"/>
            <a:chExt cx="9144000" cy="5143500"/>
          </a:xfrm>
        </p:grpSpPr>
        <p:sp>
          <p:nvSpPr>
            <p:cNvPr id="94" name="Google Shape;94;p16"/>
            <p:cNvSpPr/>
            <p:nvPr/>
          </p:nvSpPr>
          <p:spPr>
            <a:xfrm>
              <a:off x="0" y="0"/>
              <a:ext cx="9144000" cy="51435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p>
          </p:txBody>
        </p:sp>
        <p:grpSp>
          <p:nvGrpSpPr>
            <p:cNvPr id="95" name="Google Shape;95;p16"/>
            <p:cNvGrpSpPr/>
            <p:nvPr/>
          </p:nvGrpSpPr>
          <p:grpSpPr>
            <a:xfrm>
              <a:off x="8305800" y="304800"/>
              <a:ext cx="304800" cy="304800"/>
              <a:chOff x="0" y="0"/>
              <a:chExt cx="304800" cy="304800"/>
            </a:xfrm>
          </p:grpSpPr>
          <p:sp>
            <p:nvSpPr>
              <p:cNvPr id="96" name="Google Shape;96;p16"/>
              <p:cNvSpPr/>
              <p:nvPr/>
            </p:nvSpPr>
            <p:spPr>
              <a:xfrm>
                <a:off x="0" y="0"/>
                <a:ext cx="228600" cy="228600"/>
              </a:xfrm>
              <a:prstGeom prst="roundRect">
                <a:avLst>
                  <a:gd name="adj" fmla="val 16666"/>
                </a:avLst>
              </a:prstGeom>
              <a:solidFill>
                <a:srgbClr val="DBEAFE"/>
              </a:solidFill>
              <a:ln>
                <a:noFill/>
              </a:ln>
            </p:spPr>
            <p:txBody>
              <a:bodyPr spcFirstLastPara="1" wrap="square" lIns="0" tIns="0" rIns="0" bIns="0" anchor="ctr" anchorCtr="0">
                <a:noAutofit/>
              </a:bodyPr>
              <a:lstStyle/>
              <a:p>
                <a:pPr marL="0" lvl="0" indent="0" algn="l" rtl="0">
                  <a:spcBef>
                    <a:spcPts val="0"/>
                  </a:spcBef>
                  <a:spcAft>
                    <a:spcPts val="0"/>
                  </a:spcAft>
                  <a:buNone/>
                </a:pPr>
              </a:p>
            </p:txBody>
          </p:sp>
          <p:sp>
            <p:nvSpPr>
              <p:cNvPr id="97" name="Google Shape;97;p16"/>
              <p:cNvSpPr/>
              <p:nvPr/>
            </p:nvSpPr>
            <p:spPr>
              <a:xfrm>
                <a:off x="76200" y="76200"/>
                <a:ext cx="228600" cy="228600"/>
              </a:xfrm>
              <a:prstGeom prst="roundRect">
                <a:avLst>
                  <a:gd name="adj" fmla="val 16666"/>
                </a:avLst>
              </a:prstGeom>
              <a:solidFill>
                <a:srgbClr val="2563EB"/>
              </a:solidFill>
              <a:ln>
                <a:noFill/>
              </a:ln>
            </p:spPr>
            <p:txBody>
              <a:bodyPr spcFirstLastPara="1" wrap="square" lIns="0" tIns="0" rIns="0" bIns="0" anchor="ctr" anchorCtr="0">
                <a:noAutofit/>
              </a:bodyPr>
              <a:lstStyle/>
              <a:p>
                <a:pPr marL="0" lvl="0" indent="0" algn="l" rtl="0">
                  <a:spcBef>
                    <a:spcPts val="0"/>
                  </a:spcBef>
                  <a:spcAft>
                    <a:spcPts val="0"/>
                  </a:spcAft>
                  <a:buNone/>
                </a:pPr>
              </a:p>
            </p:txBody>
          </p:sp>
        </p:grpSp>
        <p:sp>
          <p:nvSpPr>
            <p:cNvPr id="98" name="Google Shape;98;p16"/>
            <p:cNvSpPr/>
            <p:nvPr/>
          </p:nvSpPr>
          <p:spPr>
            <a:xfrm>
              <a:off x="457200" y="1028700"/>
              <a:ext cx="8229600" cy="19200"/>
            </a:xfrm>
            <a:prstGeom prst="rect">
              <a:avLst/>
            </a:prstGeom>
            <a:solidFill>
              <a:srgbClr val="E2E8F0"/>
            </a:solidFill>
            <a:ln>
              <a:noFill/>
            </a:ln>
          </p:spPr>
          <p:txBody>
            <a:bodyPr spcFirstLastPara="1" wrap="square" lIns="0" tIns="0" rIns="0" bIns="0" anchor="ctr" anchorCtr="0">
              <a:noAutofit/>
            </a:bodyPr>
            <a:lstStyle/>
            <a:p>
              <a:pPr marL="0" lvl="0" indent="0" algn="l" rtl="0">
                <a:spcBef>
                  <a:spcPts val="0"/>
                </a:spcBef>
                <a:spcAft>
                  <a:spcPts val="0"/>
                </a:spcAft>
                <a:buNone/>
              </a:pPr>
            </a:p>
          </p:txBody>
        </p:sp>
      </p:grpSp>
      <p:sp>
        <p:nvSpPr>
          <p:cNvPr id="99" name="Google Shape;99;p16"/>
          <p:cNvSpPr txBox="1"/>
          <p:nvPr/>
        </p:nvSpPr>
        <p:spPr>
          <a:xfrm>
            <a:off x="457200" y="304800"/>
            <a:ext cx="7620000" cy="647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860" b="1">
                <a:solidFill>
                  <a:srgbClr val="1A202C"/>
                </a:solidFill>
                <a:latin typeface="Inter" panose="02000503000000020004"/>
                <a:ea typeface="Inter" panose="02000503000000020004"/>
                <a:cs typeface="Inter" panose="02000503000000020004"/>
                <a:sym typeface="Inter" panose="02000503000000020004"/>
              </a:rPr>
              <a:t>Mise en lumière de deux projets phares de l'ISTA</a:t>
            </a:r>
            <a:endParaRPr sz="1860" b="1">
              <a:solidFill>
                <a:srgbClr val="1A202C"/>
              </a:solidFill>
              <a:latin typeface="Inter" panose="02000503000000020004"/>
              <a:ea typeface="Inter" panose="02000503000000020004"/>
              <a:cs typeface="Inter" panose="02000503000000020004"/>
              <a:sym typeface="Inter" panose="02000503000000020004"/>
            </a:endParaRPr>
          </a:p>
          <a:p>
            <a:pPr marL="0" lvl="0" indent="0" algn="l" rtl="0">
              <a:spcBef>
                <a:spcPts val="300"/>
              </a:spcBef>
              <a:spcAft>
                <a:spcPts val="900"/>
              </a:spcAft>
              <a:buNone/>
            </a:pPr>
            <a:r>
              <a:rPr lang="en-US" sz="930" b="0">
                <a:solidFill>
                  <a:srgbClr val="4A5568"/>
                </a:solidFill>
                <a:latin typeface="Inter" panose="02000503000000020004"/>
                <a:ea typeface="Inter" panose="02000503000000020004"/>
                <a:cs typeface="Inter" panose="02000503000000020004"/>
                <a:sym typeface="Inter" panose="02000503000000020004"/>
              </a:rPr>
              <a:t>Le hub expose actuellement des réalisations majeures conçues par les stagiaires, démontrant leur capacité à répondre à des besoins réels.</a:t>
            </a:r>
            <a:endParaRPr sz="930" b="0">
              <a:solidFill>
                <a:srgbClr val="4A5568"/>
              </a:solidFill>
              <a:latin typeface="Inter" panose="02000503000000020004"/>
              <a:ea typeface="Inter" panose="02000503000000020004"/>
              <a:cs typeface="Inter" panose="02000503000000020004"/>
              <a:sym typeface="Inter" panose="02000503000000020004"/>
            </a:endParaRPr>
          </a:p>
        </p:txBody>
      </p:sp>
      <p:grpSp>
        <p:nvGrpSpPr>
          <p:cNvPr id="100" name="Google Shape;100;p16"/>
          <p:cNvGrpSpPr/>
          <p:nvPr/>
        </p:nvGrpSpPr>
        <p:grpSpPr>
          <a:xfrm>
            <a:off x="457200" y="1257300"/>
            <a:ext cx="3981600" cy="3429000"/>
            <a:chOff x="0" y="0"/>
            <a:chExt cx="3981600" cy="3429000"/>
          </a:xfrm>
        </p:grpSpPr>
        <p:sp>
          <p:nvSpPr>
            <p:cNvPr id="101" name="Google Shape;101;p16"/>
            <p:cNvSpPr/>
            <p:nvPr/>
          </p:nvSpPr>
          <p:spPr>
            <a:xfrm>
              <a:off x="0" y="0"/>
              <a:ext cx="3981600" cy="3429000"/>
            </a:xfrm>
            <a:prstGeom prst="roundRect">
              <a:avLst>
                <a:gd name="adj" fmla="val 3333"/>
              </a:avLst>
            </a:prstGeom>
            <a:solidFill>
              <a:srgbClr val="F8F9FA"/>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p>
          </p:txBody>
        </p:sp>
        <p:sp>
          <p:nvSpPr>
            <p:cNvPr id="102" name="Google Shape;102;p16"/>
            <p:cNvSpPr/>
            <p:nvPr/>
          </p:nvSpPr>
          <p:spPr>
            <a:xfrm>
              <a:off x="0" y="0"/>
              <a:ext cx="3981600" cy="57300"/>
            </a:xfrm>
            <a:prstGeom prst="roundRect">
              <a:avLst>
                <a:gd name="adj" fmla="val 50000"/>
              </a:avLst>
            </a:prstGeom>
            <a:solidFill>
              <a:srgbClr val="2563EB"/>
            </a:solidFill>
            <a:ln>
              <a:noFill/>
            </a:ln>
          </p:spPr>
          <p:txBody>
            <a:bodyPr spcFirstLastPara="1" wrap="square" lIns="0" tIns="0" rIns="0" bIns="0" anchor="ctr" anchorCtr="0">
              <a:noAutofit/>
            </a:bodyPr>
            <a:lstStyle/>
            <a:p>
              <a:pPr marL="0" lvl="0" indent="0" algn="l" rtl="0">
                <a:spcBef>
                  <a:spcPts val="0"/>
                </a:spcBef>
                <a:spcAft>
                  <a:spcPts val="0"/>
                </a:spcAft>
                <a:buNone/>
              </a:pPr>
            </a:p>
          </p:txBody>
        </p:sp>
        <p:sp>
          <p:nvSpPr>
            <p:cNvPr id="103" name="Google Shape;103;p16"/>
            <p:cNvSpPr txBox="1"/>
            <p:nvPr/>
          </p:nvSpPr>
          <p:spPr>
            <a:xfrm>
              <a:off x="266700" y="266700"/>
              <a:ext cx="3448200" cy="2895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000" b="0">
                  <a:solidFill>
                    <a:srgbClr val="2563EB"/>
                  </a:solidFill>
                  <a:latin typeface="Inter SemiBold" panose="02000503000000020004"/>
                  <a:ea typeface="Inter SemiBold" panose="02000503000000020004"/>
                  <a:cs typeface="Inter SemiBold" panose="02000503000000020004"/>
                  <a:sym typeface="Inter SemiBold" panose="02000503000000020004"/>
                </a:rPr>
                <a:t>Projet Solidare</a:t>
              </a:r>
              <a:endParaRPr sz="1000" b="0">
                <a:solidFill>
                  <a:srgbClr val="2563EB"/>
                </a:solidFill>
                <a:latin typeface="Inter SemiBold" panose="02000503000000020004"/>
                <a:ea typeface="Inter SemiBold" panose="02000503000000020004"/>
                <a:cs typeface="Inter SemiBold" panose="02000503000000020004"/>
                <a:sym typeface="Inter SemiBold" panose="02000503000000020004"/>
              </a:endParaRPr>
            </a:p>
            <a:p>
              <a:pPr marL="0" lvl="0" indent="0" algn="l" rtl="0">
                <a:spcBef>
                  <a:spcPts val="300"/>
                </a:spcBef>
                <a:spcAft>
                  <a:spcPts val="0"/>
                </a:spcAft>
                <a:buNone/>
              </a:pPr>
              <a:r>
                <a:rPr lang="en-US" sz="1600" b="1">
                  <a:solidFill>
                    <a:srgbClr val="1A202C"/>
                  </a:solidFill>
                  <a:latin typeface="Inter" panose="02000503000000020004"/>
                  <a:ea typeface="Inter" panose="02000503000000020004"/>
                  <a:cs typeface="Inter" panose="02000503000000020004"/>
                  <a:sym typeface="Inter" panose="02000503000000020004"/>
                </a:rPr>
                <a:t>Plateforme Career Center Dons</a:t>
              </a:r>
              <a:endParaRPr sz="1600" b="1">
                <a:solidFill>
                  <a:srgbClr val="1A202C"/>
                </a:solidFill>
                <a:latin typeface="Inter" panose="02000503000000020004"/>
                <a:ea typeface="Inter" panose="02000503000000020004"/>
                <a:cs typeface="Inter" panose="02000503000000020004"/>
                <a:sym typeface="Inter" panose="02000503000000020004"/>
              </a:endParaRPr>
            </a:p>
            <a:p>
              <a:pPr marL="0" lvl="0" indent="0" algn="l" rtl="0">
                <a:spcBef>
                  <a:spcPts val="1200"/>
                </a:spcBef>
                <a:spcAft>
                  <a:spcPts val="900"/>
                </a:spcAft>
                <a:buNone/>
              </a:pPr>
              <a:r>
                <a:rPr lang="en-US" sz="1400" b="0">
                  <a:solidFill>
                    <a:srgbClr val="4A5568"/>
                  </a:solidFill>
                  <a:latin typeface="Inter" panose="02000503000000020004"/>
                  <a:ea typeface="Inter" panose="02000503000000020004"/>
                  <a:cs typeface="Inter" panose="02000503000000020004"/>
                  <a:sym typeface="Inter" panose="02000503000000020004"/>
                </a:rPr>
                <a:t>Il s'agit d'un outil numérique solidaire spécifiquement conçu pour faciliter la collecte de dons de livres et de matériel éducatif.</a:t>
              </a:r>
              <a:endParaRPr sz="1400" b="0">
                <a:solidFill>
                  <a:srgbClr val="4A5568"/>
                </a:solidFill>
                <a:latin typeface="Inter" panose="02000503000000020004"/>
                <a:ea typeface="Inter" panose="02000503000000020004"/>
                <a:cs typeface="Inter" panose="02000503000000020004"/>
                <a:sym typeface="Inter" panose="02000503000000020004"/>
              </a:endParaRPr>
            </a:p>
          </p:txBody>
        </p:sp>
      </p:grpSp>
      <p:grpSp>
        <p:nvGrpSpPr>
          <p:cNvPr id="104" name="Google Shape;104;p16"/>
          <p:cNvGrpSpPr/>
          <p:nvPr/>
        </p:nvGrpSpPr>
        <p:grpSpPr>
          <a:xfrm>
            <a:off x="4705350" y="1257300"/>
            <a:ext cx="3981600" cy="3429000"/>
            <a:chOff x="0" y="0"/>
            <a:chExt cx="3981600" cy="3429000"/>
          </a:xfrm>
        </p:grpSpPr>
        <p:sp>
          <p:nvSpPr>
            <p:cNvPr id="105" name="Google Shape;105;p16"/>
            <p:cNvSpPr/>
            <p:nvPr/>
          </p:nvSpPr>
          <p:spPr>
            <a:xfrm>
              <a:off x="0" y="0"/>
              <a:ext cx="3981600" cy="3429000"/>
            </a:xfrm>
            <a:prstGeom prst="roundRect">
              <a:avLst>
                <a:gd name="adj" fmla="val 3333"/>
              </a:avLst>
            </a:prstGeom>
            <a:solidFill>
              <a:srgbClr val="F8F9FA"/>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p>
          </p:txBody>
        </p:sp>
        <p:sp>
          <p:nvSpPr>
            <p:cNvPr id="106" name="Google Shape;106;p16"/>
            <p:cNvSpPr/>
            <p:nvPr/>
          </p:nvSpPr>
          <p:spPr>
            <a:xfrm>
              <a:off x="0" y="0"/>
              <a:ext cx="3981600" cy="57300"/>
            </a:xfrm>
            <a:prstGeom prst="roundRect">
              <a:avLst>
                <a:gd name="adj" fmla="val 50000"/>
              </a:avLst>
            </a:prstGeom>
            <a:solidFill>
              <a:srgbClr val="2563EB"/>
            </a:solidFill>
            <a:ln>
              <a:noFill/>
            </a:ln>
          </p:spPr>
          <p:txBody>
            <a:bodyPr spcFirstLastPara="1" wrap="square" lIns="0" tIns="0" rIns="0" bIns="0" anchor="ctr" anchorCtr="0">
              <a:noAutofit/>
            </a:bodyPr>
            <a:lstStyle/>
            <a:p>
              <a:pPr marL="0" lvl="0" indent="0" algn="l" rtl="0">
                <a:spcBef>
                  <a:spcPts val="0"/>
                </a:spcBef>
                <a:spcAft>
                  <a:spcPts val="0"/>
                </a:spcAft>
                <a:buNone/>
              </a:pPr>
            </a:p>
          </p:txBody>
        </p:sp>
        <p:sp>
          <p:nvSpPr>
            <p:cNvPr id="107" name="Google Shape;107;p16"/>
            <p:cNvSpPr txBox="1"/>
            <p:nvPr/>
          </p:nvSpPr>
          <p:spPr>
            <a:xfrm>
              <a:off x="266700" y="266700"/>
              <a:ext cx="3448200" cy="2895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000" b="0">
                  <a:solidFill>
                    <a:srgbClr val="2563EB"/>
                  </a:solidFill>
                  <a:latin typeface="Inter SemiBold" panose="02000503000000020004"/>
                  <a:ea typeface="Inter SemiBold" panose="02000503000000020004"/>
                  <a:cs typeface="Inter SemiBold" panose="02000503000000020004"/>
                  <a:sym typeface="Inter SemiBold" panose="02000503000000020004"/>
                </a:rPr>
                <a:t>Portail Vitrine</a:t>
              </a:r>
              <a:endParaRPr sz="1000" b="0">
                <a:solidFill>
                  <a:srgbClr val="2563EB"/>
                </a:solidFill>
                <a:latin typeface="Inter SemiBold" panose="02000503000000020004"/>
                <a:ea typeface="Inter SemiBold" panose="02000503000000020004"/>
                <a:cs typeface="Inter SemiBold" panose="02000503000000020004"/>
                <a:sym typeface="Inter SemiBold" panose="02000503000000020004"/>
              </a:endParaRPr>
            </a:p>
            <a:p>
              <a:pPr marL="0" lvl="0" indent="0" algn="l" rtl="0">
                <a:spcBef>
                  <a:spcPts val="300"/>
                </a:spcBef>
                <a:spcAft>
                  <a:spcPts val="0"/>
                </a:spcAft>
                <a:buNone/>
              </a:pPr>
              <a:r>
                <a:rPr lang="en-US" sz="1600" b="1">
                  <a:solidFill>
                    <a:srgbClr val="1A202C"/>
                  </a:solidFill>
                  <a:latin typeface="Inter" panose="02000503000000020004"/>
                  <a:ea typeface="Inter" panose="02000503000000020004"/>
                  <a:cs typeface="Inter" panose="02000503000000020004"/>
                  <a:sym typeface="Inter" panose="02000503000000020004"/>
                </a:rPr>
                <a:t>ISTA Talents Hub</a:t>
              </a:r>
              <a:endParaRPr sz="1600" b="1">
                <a:solidFill>
                  <a:srgbClr val="1A202C"/>
                </a:solidFill>
                <a:latin typeface="Inter" panose="02000503000000020004"/>
                <a:ea typeface="Inter" panose="02000503000000020004"/>
                <a:cs typeface="Inter" panose="02000503000000020004"/>
                <a:sym typeface="Inter" panose="02000503000000020004"/>
              </a:endParaRPr>
            </a:p>
            <a:p>
              <a:pPr marL="0" lvl="0" indent="0" algn="l" rtl="0">
                <a:spcBef>
                  <a:spcPts val="1200"/>
                </a:spcBef>
                <a:spcAft>
                  <a:spcPts val="900"/>
                </a:spcAft>
                <a:buNone/>
              </a:pPr>
              <a:r>
                <a:rPr lang="en-US" sz="1400" b="0">
                  <a:solidFill>
                    <a:srgbClr val="4A5568"/>
                  </a:solidFill>
                  <a:latin typeface="Inter" panose="02000503000000020004"/>
                  <a:ea typeface="Inter" panose="02000503000000020004"/>
                  <a:cs typeface="Inter" panose="02000503000000020004"/>
                  <a:sym typeface="Inter" panose="02000503000000020004"/>
                </a:rPr>
                <a:t>Ce second projet est un portail vitrine dédié à l'exposition professionnelle des profils, visant à valoriser les compétences techniques des apprenants auprès des recruteurs.</a:t>
              </a:r>
              <a:endParaRPr sz="1400" b="0">
                <a:solidFill>
                  <a:srgbClr val="4A5568"/>
                </a:solidFill>
                <a:latin typeface="Inter" panose="02000503000000020004"/>
                <a:ea typeface="Inter" panose="02000503000000020004"/>
                <a:cs typeface="Inter" panose="02000503000000020004"/>
                <a:sym typeface="Inter" panose="02000503000000020004"/>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11" name="Shape 111"/>
        <p:cNvGrpSpPr/>
        <p:nvPr/>
      </p:nvGrpSpPr>
      <p:grpSpPr>
        <a:xfrm>
          <a:off x="0" y="0"/>
          <a:ext cx="0" cy="0"/>
          <a:chOff x="0" y="0"/>
          <a:chExt cx="0" cy="0"/>
        </a:xfrm>
      </p:grpSpPr>
      <p:grpSp>
        <p:nvGrpSpPr>
          <p:cNvPr id="112" name="Google Shape;112;p17"/>
          <p:cNvGrpSpPr/>
          <p:nvPr/>
        </p:nvGrpSpPr>
        <p:grpSpPr>
          <a:xfrm>
            <a:off x="0" y="0"/>
            <a:ext cx="9144000" cy="5143500"/>
            <a:chOff x="0" y="0"/>
            <a:chExt cx="9144000" cy="5143500"/>
          </a:xfrm>
        </p:grpSpPr>
        <p:sp>
          <p:nvSpPr>
            <p:cNvPr id="113" name="Google Shape;113;p17"/>
            <p:cNvSpPr/>
            <p:nvPr/>
          </p:nvSpPr>
          <p:spPr>
            <a:xfrm>
              <a:off x="0" y="0"/>
              <a:ext cx="4572000" cy="51435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p>
          </p:txBody>
        </p:sp>
        <p:sp>
          <p:nvSpPr>
            <p:cNvPr id="114" name="Google Shape;114;p17"/>
            <p:cNvSpPr/>
            <p:nvPr/>
          </p:nvSpPr>
          <p:spPr>
            <a:xfrm>
              <a:off x="4572000" y="0"/>
              <a:ext cx="4572000" cy="5143500"/>
            </a:xfrm>
            <a:prstGeom prst="rect">
              <a:avLst/>
            </a:prstGeom>
            <a:solidFill>
              <a:srgbClr val="F8F9FA"/>
            </a:solidFill>
            <a:ln>
              <a:noFill/>
            </a:ln>
          </p:spPr>
          <p:txBody>
            <a:bodyPr spcFirstLastPara="1" wrap="square" lIns="0" tIns="0" rIns="0" bIns="0" anchor="ctr" anchorCtr="0">
              <a:noAutofit/>
            </a:bodyPr>
            <a:lstStyle/>
            <a:p>
              <a:pPr marL="0" lvl="0" indent="0" algn="l" rtl="0">
                <a:spcBef>
                  <a:spcPts val="0"/>
                </a:spcBef>
                <a:spcAft>
                  <a:spcPts val="0"/>
                </a:spcAft>
                <a:buNone/>
              </a:pPr>
            </a:p>
          </p:txBody>
        </p:sp>
        <p:grpSp>
          <p:nvGrpSpPr>
            <p:cNvPr id="115" name="Google Shape;115;p17"/>
            <p:cNvGrpSpPr/>
            <p:nvPr/>
          </p:nvGrpSpPr>
          <p:grpSpPr>
            <a:xfrm>
              <a:off x="457200" y="304800"/>
              <a:ext cx="304800" cy="304800"/>
              <a:chOff x="0" y="0"/>
              <a:chExt cx="304800" cy="304800"/>
            </a:xfrm>
          </p:grpSpPr>
          <p:sp>
            <p:nvSpPr>
              <p:cNvPr id="116" name="Google Shape;116;p17"/>
              <p:cNvSpPr/>
              <p:nvPr/>
            </p:nvSpPr>
            <p:spPr>
              <a:xfrm>
                <a:off x="0" y="0"/>
                <a:ext cx="228600" cy="228600"/>
              </a:xfrm>
              <a:prstGeom prst="roundRect">
                <a:avLst>
                  <a:gd name="adj" fmla="val 16666"/>
                </a:avLst>
              </a:prstGeom>
              <a:solidFill>
                <a:srgbClr val="DBEAFE"/>
              </a:solidFill>
              <a:ln>
                <a:noFill/>
              </a:ln>
            </p:spPr>
            <p:txBody>
              <a:bodyPr spcFirstLastPara="1" wrap="square" lIns="0" tIns="0" rIns="0" bIns="0" anchor="ctr" anchorCtr="0">
                <a:noAutofit/>
              </a:bodyPr>
              <a:lstStyle/>
              <a:p>
                <a:pPr marL="0" lvl="0" indent="0" algn="l" rtl="0">
                  <a:spcBef>
                    <a:spcPts val="0"/>
                  </a:spcBef>
                  <a:spcAft>
                    <a:spcPts val="0"/>
                  </a:spcAft>
                  <a:buNone/>
                </a:pPr>
              </a:p>
            </p:txBody>
          </p:sp>
          <p:sp>
            <p:nvSpPr>
              <p:cNvPr id="117" name="Google Shape;117;p17"/>
              <p:cNvSpPr/>
              <p:nvPr/>
            </p:nvSpPr>
            <p:spPr>
              <a:xfrm>
                <a:off x="76200" y="76200"/>
                <a:ext cx="228600" cy="228600"/>
              </a:xfrm>
              <a:prstGeom prst="roundRect">
                <a:avLst>
                  <a:gd name="adj" fmla="val 16666"/>
                </a:avLst>
              </a:prstGeom>
              <a:solidFill>
                <a:srgbClr val="2563EB"/>
              </a:solidFill>
              <a:ln>
                <a:noFill/>
              </a:ln>
            </p:spPr>
            <p:txBody>
              <a:bodyPr spcFirstLastPara="1" wrap="square" lIns="0" tIns="0" rIns="0" bIns="0" anchor="ctr" anchorCtr="0">
                <a:noAutofit/>
              </a:bodyPr>
              <a:lstStyle/>
              <a:p>
                <a:pPr marL="0" lvl="0" indent="0" algn="l" rtl="0">
                  <a:spcBef>
                    <a:spcPts val="0"/>
                  </a:spcBef>
                  <a:spcAft>
                    <a:spcPts val="0"/>
                  </a:spcAft>
                  <a:buNone/>
                </a:pPr>
              </a:p>
            </p:txBody>
          </p:sp>
        </p:grpSp>
      </p:grpSp>
      <p:sp>
        <p:nvSpPr>
          <p:cNvPr id="118" name="Google Shape;118;p17"/>
          <p:cNvSpPr txBox="1"/>
          <p:nvPr/>
        </p:nvSpPr>
        <p:spPr>
          <a:xfrm>
            <a:off x="838200" y="266700"/>
            <a:ext cx="3429000" cy="571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700" b="0">
                <a:solidFill>
                  <a:srgbClr val="2563EB"/>
                </a:solidFill>
                <a:latin typeface="Inter SemiBold" panose="02000503000000020004"/>
                <a:ea typeface="Inter SemiBold" panose="02000503000000020004"/>
                <a:cs typeface="Inter SemiBold" panose="02000503000000020004"/>
                <a:sym typeface="Inter SemiBold" panose="02000503000000020004"/>
              </a:rPr>
              <a:t>CONCEPTION UI / UX</a:t>
            </a:r>
            <a:endParaRPr sz="700" b="0">
              <a:solidFill>
                <a:srgbClr val="2563EB"/>
              </a:solidFill>
              <a:latin typeface="Inter SemiBold" panose="02000503000000020004"/>
              <a:ea typeface="Inter SemiBold" panose="02000503000000020004"/>
              <a:cs typeface="Inter SemiBold" panose="02000503000000020004"/>
              <a:sym typeface="Inter SemiBold" panose="02000503000000020004"/>
            </a:endParaRPr>
          </a:p>
          <a:p>
            <a:pPr marL="0" lvl="0" indent="0" algn="l" rtl="0">
              <a:spcBef>
                <a:spcPts val="300"/>
              </a:spcBef>
              <a:spcAft>
                <a:spcPts val="600"/>
              </a:spcAft>
              <a:buNone/>
            </a:pPr>
            <a:r>
              <a:rPr lang="en-US" sz="1395" b="1">
                <a:solidFill>
                  <a:srgbClr val="1A202C"/>
                </a:solidFill>
                <a:latin typeface="Inter" panose="02000503000000020004"/>
                <a:ea typeface="Inter" panose="02000503000000020004"/>
                <a:cs typeface="Inter" panose="02000503000000020004"/>
                <a:sym typeface="Inter" panose="02000503000000020004"/>
              </a:rPr>
              <a:t>Une démarche UI/UX rigoureuse via Figma</a:t>
            </a:r>
            <a:endParaRPr sz="1395" b="1">
              <a:solidFill>
                <a:srgbClr val="1A202C"/>
              </a:solidFill>
              <a:latin typeface="Inter" panose="02000503000000020004"/>
              <a:ea typeface="Inter" panose="02000503000000020004"/>
              <a:cs typeface="Inter" panose="02000503000000020004"/>
              <a:sym typeface="Inter" panose="02000503000000020004"/>
            </a:endParaRPr>
          </a:p>
        </p:txBody>
      </p:sp>
      <p:cxnSp>
        <p:nvCxnSpPr>
          <p:cNvPr id="119" name="Google Shape;119;p17"/>
          <p:cNvCxnSpPr/>
          <p:nvPr/>
        </p:nvCxnSpPr>
        <p:spPr>
          <a:xfrm>
            <a:off x="457200" y="857250"/>
            <a:ext cx="8229600" cy="0"/>
          </a:xfrm>
          <a:prstGeom prst="straightConnector1">
            <a:avLst/>
          </a:prstGeom>
          <a:solidFill>
            <a:srgbClr val="FFFFFF"/>
          </a:solidFill>
          <a:ln w="19050" cap="flat" cmpd="sng">
            <a:solidFill>
              <a:srgbClr val="E2E8F0"/>
            </a:solidFill>
            <a:prstDash val="solid"/>
            <a:round/>
            <a:headEnd type="none" w="sm" len="sm"/>
            <a:tailEnd type="none" w="sm" len="sm"/>
          </a:ln>
        </p:spPr>
      </p:cxnSp>
      <p:grpSp>
        <p:nvGrpSpPr>
          <p:cNvPr id="120" name="Google Shape;120;p17"/>
          <p:cNvGrpSpPr/>
          <p:nvPr/>
        </p:nvGrpSpPr>
        <p:grpSpPr>
          <a:xfrm>
            <a:off x="457200" y="1047750"/>
            <a:ext cx="8229600" cy="1047900"/>
            <a:chOff x="0" y="0"/>
            <a:chExt cx="8229600" cy="1047900"/>
          </a:xfrm>
        </p:grpSpPr>
        <p:sp>
          <p:nvSpPr>
            <p:cNvPr id="121" name="Google Shape;121;p17"/>
            <p:cNvSpPr/>
            <p:nvPr/>
          </p:nvSpPr>
          <p:spPr>
            <a:xfrm>
              <a:off x="0" y="0"/>
              <a:ext cx="8229600" cy="1047900"/>
            </a:xfrm>
            <a:prstGeom prst="roundRect">
              <a:avLst>
                <a:gd name="adj" fmla="val 7271"/>
              </a:avLst>
            </a:prstGeom>
            <a:solidFill>
              <a:srgbClr val="F8F9FA"/>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p>
          </p:txBody>
        </p:sp>
        <p:sp>
          <p:nvSpPr>
            <p:cNvPr id="122" name="Google Shape;122;p17"/>
            <p:cNvSpPr/>
            <p:nvPr/>
          </p:nvSpPr>
          <p:spPr>
            <a:xfrm>
              <a:off x="0" y="0"/>
              <a:ext cx="38100" cy="1047900"/>
            </a:xfrm>
            <a:prstGeom prst="roundRect">
              <a:avLst>
                <a:gd name="adj" fmla="val 50000"/>
              </a:avLst>
            </a:prstGeom>
            <a:solidFill>
              <a:srgbClr val="2563EB"/>
            </a:solidFill>
            <a:ln>
              <a:noFill/>
            </a:ln>
          </p:spPr>
          <p:txBody>
            <a:bodyPr spcFirstLastPara="1" wrap="square" lIns="0" tIns="0" rIns="0" bIns="0" anchor="ctr" anchorCtr="0">
              <a:noAutofit/>
            </a:bodyPr>
            <a:lstStyle/>
            <a:p>
              <a:pPr marL="0" lvl="0" indent="0" algn="l" rtl="0">
                <a:spcBef>
                  <a:spcPts val="0"/>
                </a:spcBef>
                <a:spcAft>
                  <a:spcPts val="0"/>
                </a:spcAft>
                <a:buNone/>
              </a:pPr>
            </a:p>
          </p:txBody>
        </p:sp>
        <p:sp>
          <p:nvSpPr>
            <p:cNvPr id="123" name="Google Shape;123;p17"/>
            <p:cNvSpPr txBox="1"/>
            <p:nvPr/>
          </p:nvSpPr>
          <p:spPr>
            <a:xfrm>
              <a:off x="190500" y="133350"/>
              <a:ext cx="7848600" cy="7812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US" sz="1390" b="1" i="0" u="none" strike="noStrike">
                  <a:solidFill>
                    <a:srgbClr val="1A202C"/>
                  </a:solidFill>
                  <a:latin typeface="Inter" panose="02000503000000020004"/>
                  <a:ea typeface="Inter" panose="02000503000000020004"/>
                  <a:cs typeface="Inter" panose="02000503000000020004"/>
                  <a:sym typeface="Inter" panose="02000503000000020004"/>
                </a:rPr>
                <a:t>Prototypage Préalable</a:t>
              </a:r>
              <a:endParaRPr sz="1390" b="1" i="0" u="none" strike="noStrike">
                <a:solidFill>
                  <a:srgbClr val="1A202C"/>
                </a:solidFill>
                <a:latin typeface="Inter" panose="02000503000000020004"/>
                <a:ea typeface="Inter" panose="02000503000000020004"/>
                <a:cs typeface="Inter" panose="02000503000000020004"/>
                <a:sym typeface="Inter" panose="02000503000000020004"/>
              </a:endParaRPr>
            </a:p>
            <a:p>
              <a:pPr marL="0" lvl="0" indent="0" algn="l" rtl="0">
                <a:spcBef>
                  <a:spcPts val="450"/>
                </a:spcBef>
                <a:spcAft>
                  <a:spcPts val="450"/>
                </a:spcAft>
                <a:buNone/>
              </a:pPr>
              <a:r>
                <a:rPr lang="en-US" sz="1020" b="0" i="0" u="none" strike="noStrike">
                  <a:solidFill>
                    <a:srgbClr val="4A5568"/>
                  </a:solidFill>
                  <a:latin typeface="Inter" panose="02000503000000020004"/>
                  <a:ea typeface="Inter" panose="02000503000000020004"/>
                  <a:cs typeface="Inter" panose="02000503000000020004"/>
                  <a:sym typeface="Inter" panose="02000503000000020004"/>
                </a:rPr>
                <a:t>La phase de conception visuelle a reposé sur un prototypage préalable complet et détaillé, réalisé au format Desktop (1440x1024).</a:t>
              </a:r>
              <a:endParaRPr sz="1020" b="1" i="0" u="none" strike="noStrike">
                <a:solidFill>
                  <a:srgbClr val="1A202C"/>
                </a:solidFill>
                <a:latin typeface="Inter" panose="02000503000000020004"/>
                <a:ea typeface="Inter" panose="02000503000000020004"/>
                <a:cs typeface="Inter" panose="02000503000000020004"/>
                <a:sym typeface="Inter" panose="02000503000000020004"/>
              </a:endParaRPr>
            </a:p>
          </p:txBody>
        </p:sp>
      </p:grpSp>
      <p:grpSp>
        <p:nvGrpSpPr>
          <p:cNvPr id="124" name="Google Shape;124;p17"/>
          <p:cNvGrpSpPr/>
          <p:nvPr/>
        </p:nvGrpSpPr>
        <p:grpSpPr>
          <a:xfrm>
            <a:off x="457200" y="2247900"/>
            <a:ext cx="8229600" cy="1238400"/>
            <a:chOff x="0" y="0"/>
            <a:chExt cx="8229600" cy="1238400"/>
          </a:xfrm>
        </p:grpSpPr>
        <p:sp>
          <p:nvSpPr>
            <p:cNvPr id="125" name="Google Shape;125;p17"/>
            <p:cNvSpPr/>
            <p:nvPr/>
          </p:nvSpPr>
          <p:spPr>
            <a:xfrm>
              <a:off x="0" y="0"/>
              <a:ext cx="8229600" cy="1238400"/>
            </a:xfrm>
            <a:prstGeom prst="roundRect">
              <a:avLst>
                <a:gd name="adj" fmla="val 6152"/>
              </a:avLst>
            </a:prstGeom>
            <a:solidFill>
              <a:srgbClr val="F8F9FA"/>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p>
          </p:txBody>
        </p:sp>
        <p:sp>
          <p:nvSpPr>
            <p:cNvPr id="126" name="Google Shape;126;p17"/>
            <p:cNvSpPr/>
            <p:nvPr/>
          </p:nvSpPr>
          <p:spPr>
            <a:xfrm>
              <a:off x="0" y="0"/>
              <a:ext cx="38100" cy="1238400"/>
            </a:xfrm>
            <a:prstGeom prst="roundRect">
              <a:avLst>
                <a:gd name="adj" fmla="val 50000"/>
              </a:avLst>
            </a:prstGeom>
            <a:solidFill>
              <a:srgbClr val="2563EB"/>
            </a:solidFill>
            <a:ln>
              <a:noFill/>
            </a:ln>
          </p:spPr>
          <p:txBody>
            <a:bodyPr spcFirstLastPara="1" wrap="square" lIns="0" tIns="0" rIns="0" bIns="0" anchor="ctr" anchorCtr="0">
              <a:noAutofit/>
            </a:bodyPr>
            <a:lstStyle/>
            <a:p>
              <a:pPr marL="0" lvl="0" indent="0" algn="l" rtl="0">
                <a:spcBef>
                  <a:spcPts val="0"/>
                </a:spcBef>
                <a:spcAft>
                  <a:spcPts val="0"/>
                </a:spcAft>
                <a:buNone/>
              </a:pPr>
            </a:p>
          </p:txBody>
        </p:sp>
        <p:sp>
          <p:nvSpPr>
            <p:cNvPr id="127" name="Google Shape;127;p17"/>
            <p:cNvSpPr txBox="1"/>
            <p:nvPr/>
          </p:nvSpPr>
          <p:spPr>
            <a:xfrm>
              <a:off x="190500" y="133350"/>
              <a:ext cx="7848600" cy="9717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US" sz="1390" b="1" i="0" u="none" strike="noStrike">
                  <a:solidFill>
                    <a:srgbClr val="1A202C"/>
                  </a:solidFill>
                  <a:latin typeface="Inter" panose="02000503000000020004"/>
                  <a:ea typeface="Inter" panose="02000503000000020004"/>
                  <a:cs typeface="Inter" panose="02000503000000020004"/>
                  <a:sym typeface="Inter" panose="02000503000000020004"/>
                </a:rPr>
                <a:t>Ergonomie &amp; Structure</a:t>
              </a:r>
              <a:endParaRPr sz="1390" b="1" i="0" u="none" strike="noStrike">
                <a:solidFill>
                  <a:srgbClr val="1A202C"/>
                </a:solidFill>
                <a:latin typeface="Inter" panose="02000503000000020004"/>
                <a:ea typeface="Inter" panose="02000503000000020004"/>
                <a:cs typeface="Inter" panose="02000503000000020004"/>
                <a:sym typeface="Inter" panose="02000503000000020004"/>
              </a:endParaRPr>
            </a:p>
            <a:p>
              <a:pPr marL="0" lvl="0" indent="0" algn="l" rtl="0">
                <a:spcBef>
                  <a:spcPts val="450"/>
                </a:spcBef>
                <a:spcAft>
                  <a:spcPts val="450"/>
                </a:spcAft>
                <a:buNone/>
              </a:pPr>
              <a:r>
                <a:rPr lang="en-US" sz="1020" b="0" i="0" u="none" strike="noStrike">
                  <a:solidFill>
                    <a:srgbClr val="4A5568"/>
                  </a:solidFill>
                  <a:latin typeface="Inter" panose="02000503000000020004"/>
                  <a:ea typeface="Inter" panose="02000503000000020004"/>
                  <a:cs typeface="Inter" panose="02000503000000020004"/>
                  <a:sym typeface="Inter" panose="02000503000000020004"/>
                </a:rPr>
                <a:t>L'ergonomie de l'interface a été particulièrement soignée en intégrant une hiérarchie visuelle claire, des contrastes de couleurs équilibrés pour garantir l'accessibilité, ainsi qu'une structure modulaire.</a:t>
              </a:r>
              <a:endParaRPr sz="1020" b="1" i="0" u="none" strike="noStrike">
                <a:solidFill>
                  <a:srgbClr val="1A202C"/>
                </a:solidFill>
                <a:latin typeface="Inter" panose="02000503000000020004"/>
                <a:ea typeface="Inter" panose="02000503000000020004"/>
                <a:cs typeface="Inter" panose="02000503000000020004"/>
                <a:sym typeface="Inter" panose="02000503000000020004"/>
              </a:endParaRPr>
            </a:p>
          </p:txBody>
        </p:sp>
      </p:grpSp>
      <p:grpSp>
        <p:nvGrpSpPr>
          <p:cNvPr id="128" name="Google Shape;128;p17"/>
          <p:cNvGrpSpPr/>
          <p:nvPr/>
        </p:nvGrpSpPr>
        <p:grpSpPr>
          <a:xfrm>
            <a:off x="457200" y="3638550"/>
            <a:ext cx="8229600" cy="1047900"/>
            <a:chOff x="0" y="0"/>
            <a:chExt cx="8229600" cy="1047900"/>
          </a:xfrm>
        </p:grpSpPr>
        <p:sp>
          <p:nvSpPr>
            <p:cNvPr id="129" name="Google Shape;129;p17"/>
            <p:cNvSpPr/>
            <p:nvPr/>
          </p:nvSpPr>
          <p:spPr>
            <a:xfrm>
              <a:off x="0" y="0"/>
              <a:ext cx="8229600" cy="1047900"/>
            </a:xfrm>
            <a:prstGeom prst="roundRect">
              <a:avLst>
                <a:gd name="adj" fmla="val 7271"/>
              </a:avLst>
            </a:prstGeom>
            <a:solidFill>
              <a:srgbClr val="F8F9FA"/>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p>
          </p:txBody>
        </p:sp>
        <p:sp>
          <p:nvSpPr>
            <p:cNvPr id="130" name="Google Shape;130;p17"/>
            <p:cNvSpPr/>
            <p:nvPr/>
          </p:nvSpPr>
          <p:spPr>
            <a:xfrm>
              <a:off x="0" y="0"/>
              <a:ext cx="38100" cy="1047900"/>
            </a:xfrm>
            <a:prstGeom prst="roundRect">
              <a:avLst>
                <a:gd name="adj" fmla="val 50000"/>
              </a:avLst>
            </a:prstGeom>
            <a:solidFill>
              <a:srgbClr val="2563EB"/>
            </a:solidFill>
            <a:ln>
              <a:noFill/>
            </a:ln>
          </p:spPr>
          <p:txBody>
            <a:bodyPr spcFirstLastPara="1" wrap="square" lIns="0" tIns="0" rIns="0" bIns="0" anchor="ctr" anchorCtr="0">
              <a:noAutofit/>
            </a:bodyPr>
            <a:lstStyle/>
            <a:p>
              <a:pPr marL="0" lvl="0" indent="0" algn="l" rtl="0">
                <a:spcBef>
                  <a:spcPts val="0"/>
                </a:spcBef>
                <a:spcAft>
                  <a:spcPts val="0"/>
                </a:spcAft>
                <a:buNone/>
              </a:pPr>
            </a:p>
          </p:txBody>
        </p:sp>
        <p:sp>
          <p:nvSpPr>
            <p:cNvPr id="131" name="Google Shape;131;p17"/>
            <p:cNvSpPr txBox="1"/>
            <p:nvPr/>
          </p:nvSpPr>
          <p:spPr>
            <a:xfrm>
              <a:off x="190500" y="133350"/>
              <a:ext cx="7848600" cy="7812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US" sz="1390" b="1" i="0" u="none" strike="noStrike">
                  <a:solidFill>
                    <a:srgbClr val="1A202C"/>
                  </a:solidFill>
                  <a:latin typeface="Inter" panose="02000503000000020004"/>
                  <a:ea typeface="Inter" panose="02000503000000020004"/>
                  <a:cs typeface="Inter" panose="02000503000000020004"/>
                  <a:sym typeface="Inter" panose="02000503000000020004"/>
                </a:rPr>
                <a:t>Validation en Amont</a:t>
              </a:r>
              <a:endParaRPr sz="1390" b="1" i="0" u="none" strike="noStrike">
                <a:solidFill>
                  <a:srgbClr val="1A202C"/>
                </a:solidFill>
                <a:latin typeface="Inter" panose="02000503000000020004"/>
                <a:ea typeface="Inter" panose="02000503000000020004"/>
                <a:cs typeface="Inter" panose="02000503000000020004"/>
                <a:sym typeface="Inter" panose="02000503000000020004"/>
              </a:endParaRPr>
            </a:p>
            <a:p>
              <a:pPr marL="0" lvl="0" indent="0" algn="l" rtl="0">
                <a:spcBef>
                  <a:spcPts val="450"/>
                </a:spcBef>
                <a:spcAft>
                  <a:spcPts val="450"/>
                </a:spcAft>
                <a:buNone/>
              </a:pPr>
              <a:r>
                <a:rPr lang="en-US" sz="1020" b="0" i="0" u="none" strike="noStrike">
                  <a:solidFill>
                    <a:srgbClr val="4A5568"/>
                  </a:solidFill>
                  <a:latin typeface="Inter" panose="02000503000000020004"/>
                  <a:ea typeface="Inter" panose="02000503000000020004"/>
                  <a:cs typeface="Inter" panose="02000503000000020004"/>
                  <a:sym typeface="Inter" panose="02000503000000020004"/>
                </a:rPr>
                <a:t>Cette étape préparatoire sur Figma a permis la validation complète et définitive du parcours utilisateur en amont de la phase de codage.</a:t>
              </a:r>
              <a:endParaRPr sz="1020" b="1" i="0" u="none" strike="noStrike">
                <a:solidFill>
                  <a:srgbClr val="1A202C"/>
                </a:solidFill>
                <a:latin typeface="Inter" panose="02000503000000020004"/>
                <a:ea typeface="Inter" panose="02000503000000020004"/>
                <a:cs typeface="Inter" panose="02000503000000020004"/>
                <a:sym typeface="Inter" panose="02000503000000020004"/>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35" name="Shape 135"/>
        <p:cNvGrpSpPr/>
        <p:nvPr/>
      </p:nvGrpSpPr>
      <p:grpSpPr>
        <a:xfrm>
          <a:off x="0" y="0"/>
          <a:ext cx="0" cy="0"/>
          <a:chOff x="0" y="0"/>
          <a:chExt cx="0" cy="0"/>
        </a:xfrm>
      </p:grpSpPr>
      <p:grpSp>
        <p:nvGrpSpPr>
          <p:cNvPr id="136" name="Google Shape;136;p18"/>
          <p:cNvGrpSpPr/>
          <p:nvPr/>
        </p:nvGrpSpPr>
        <p:grpSpPr>
          <a:xfrm>
            <a:off x="0" y="0"/>
            <a:ext cx="9144000" cy="5143500"/>
            <a:chOff x="0" y="0"/>
            <a:chExt cx="9144000" cy="5143500"/>
          </a:xfrm>
        </p:grpSpPr>
        <p:sp>
          <p:nvSpPr>
            <p:cNvPr id="137" name="Google Shape;137;p18"/>
            <p:cNvSpPr/>
            <p:nvPr/>
          </p:nvSpPr>
          <p:spPr>
            <a:xfrm>
              <a:off x="0" y="0"/>
              <a:ext cx="9144000" cy="51435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p>
          </p:txBody>
        </p:sp>
        <p:grpSp>
          <p:nvGrpSpPr>
            <p:cNvPr id="138" name="Google Shape;138;p18"/>
            <p:cNvGrpSpPr/>
            <p:nvPr/>
          </p:nvGrpSpPr>
          <p:grpSpPr>
            <a:xfrm>
              <a:off x="8458200" y="304800"/>
              <a:ext cx="304800" cy="304800"/>
              <a:chOff x="0" y="0"/>
              <a:chExt cx="304800" cy="304800"/>
            </a:xfrm>
          </p:grpSpPr>
          <p:sp>
            <p:nvSpPr>
              <p:cNvPr id="139" name="Google Shape;139;p18"/>
              <p:cNvSpPr/>
              <p:nvPr/>
            </p:nvSpPr>
            <p:spPr>
              <a:xfrm>
                <a:off x="0" y="0"/>
                <a:ext cx="228600" cy="228600"/>
              </a:xfrm>
              <a:prstGeom prst="roundRect">
                <a:avLst>
                  <a:gd name="adj" fmla="val 16666"/>
                </a:avLst>
              </a:prstGeom>
              <a:solidFill>
                <a:srgbClr val="DBEAFE"/>
              </a:solidFill>
              <a:ln>
                <a:noFill/>
              </a:ln>
            </p:spPr>
            <p:txBody>
              <a:bodyPr spcFirstLastPara="1" wrap="square" lIns="0" tIns="0" rIns="0" bIns="0" anchor="ctr" anchorCtr="0">
                <a:noAutofit/>
              </a:bodyPr>
              <a:lstStyle/>
              <a:p>
                <a:pPr marL="0" lvl="0" indent="0" algn="l" rtl="0">
                  <a:spcBef>
                    <a:spcPts val="0"/>
                  </a:spcBef>
                  <a:spcAft>
                    <a:spcPts val="0"/>
                  </a:spcAft>
                  <a:buNone/>
                </a:pPr>
              </a:p>
            </p:txBody>
          </p:sp>
          <p:sp>
            <p:nvSpPr>
              <p:cNvPr id="140" name="Google Shape;140;p18"/>
              <p:cNvSpPr/>
              <p:nvPr/>
            </p:nvSpPr>
            <p:spPr>
              <a:xfrm>
                <a:off x="76200" y="76200"/>
                <a:ext cx="228600" cy="228600"/>
              </a:xfrm>
              <a:prstGeom prst="roundRect">
                <a:avLst>
                  <a:gd name="adj" fmla="val 16666"/>
                </a:avLst>
              </a:prstGeom>
              <a:solidFill>
                <a:srgbClr val="2563EB"/>
              </a:solidFill>
              <a:ln>
                <a:noFill/>
              </a:ln>
            </p:spPr>
            <p:txBody>
              <a:bodyPr spcFirstLastPara="1" wrap="square" lIns="0" tIns="0" rIns="0" bIns="0" anchor="ctr" anchorCtr="0">
                <a:noAutofit/>
              </a:bodyPr>
              <a:lstStyle/>
              <a:p>
                <a:pPr marL="0" lvl="0" indent="0" algn="l" rtl="0">
                  <a:spcBef>
                    <a:spcPts val="0"/>
                  </a:spcBef>
                  <a:spcAft>
                    <a:spcPts val="0"/>
                  </a:spcAft>
                  <a:buNone/>
                </a:pPr>
              </a:p>
            </p:txBody>
          </p:sp>
        </p:grpSp>
        <p:sp>
          <p:nvSpPr>
            <p:cNvPr id="141" name="Google Shape;141;p18"/>
            <p:cNvSpPr/>
            <p:nvPr/>
          </p:nvSpPr>
          <p:spPr>
            <a:xfrm>
              <a:off x="457200" y="838200"/>
              <a:ext cx="8229600" cy="19200"/>
            </a:xfrm>
            <a:prstGeom prst="rect">
              <a:avLst/>
            </a:prstGeom>
            <a:solidFill>
              <a:srgbClr val="E2E8F0"/>
            </a:solidFill>
            <a:ln>
              <a:noFill/>
            </a:ln>
          </p:spPr>
          <p:txBody>
            <a:bodyPr spcFirstLastPara="1" wrap="square" lIns="0" tIns="0" rIns="0" bIns="0" anchor="ctr" anchorCtr="0">
              <a:noAutofit/>
            </a:bodyPr>
            <a:lstStyle/>
            <a:p>
              <a:pPr marL="0" lvl="0" indent="0" algn="l" rtl="0">
                <a:spcBef>
                  <a:spcPts val="0"/>
                </a:spcBef>
                <a:spcAft>
                  <a:spcPts val="0"/>
                </a:spcAft>
                <a:buNone/>
              </a:pPr>
            </a:p>
          </p:txBody>
        </p:sp>
      </p:grpSp>
      <p:sp>
        <p:nvSpPr>
          <p:cNvPr id="142" name="Google Shape;142;p18"/>
          <p:cNvSpPr txBox="1"/>
          <p:nvPr/>
        </p:nvSpPr>
        <p:spPr>
          <a:xfrm>
            <a:off x="457200" y="304800"/>
            <a:ext cx="7620000" cy="476400"/>
          </a:xfrm>
          <a:prstGeom prst="rect">
            <a:avLst/>
          </a:prstGeom>
          <a:noFill/>
          <a:ln>
            <a:noFill/>
          </a:ln>
        </p:spPr>
        <p:txBody>
          <a:bodyPr spcFirstLastPara="1" wrap="square" lIns="0" tIns="0" rIns="0" bIns="0" anchor="t" anchorCtr="0">
            <a:noAutofit/>
          </a:bodyPr>
          <a:lstStyle/>
          <a:p>
            <a:pPr marL="0" lvl="0" indent="0" algn="l" rtl="0">
              <a:spcBef>
                <a:spcPts val="0"/>
              </a:spcBef>
              <a:spcAft>
                <a:spcPts val="600"/>
              </a:spcAft>
              <a:buNone/>
            </a:pPr>
            <a:r>
              <a:rPr lang="en-US" sz="2405" b="1">
                <a:solidFill>
                  <a:srgbClr val="1A202C"/>
                </a:solidFill>
                <a:latin typeface="Inter" panose="02000503000000020004"/>
                <a:ea typeface="Inter" panose="02000503000000020004"/>
                <a:cs typeface="Inter" panose="02000503000000020004"/>
                <a:sym typeface="Inter" panose="02000503000000020004"/>
              </a:rPr>
              <a:t>Conception détaillée des interfaces clés du Hub</a:t>
            </a:r>
            <a:endParaRPr sz="2405" b="1">
              <a:solidFill>
                <a:srgbClr val="1A202C"/>
              </a:solidFill>
              <a:latin typeface="Inter" panose="02000503000000020004"/>
              <a:ea typeface="Inter" panose="02000503000000020004"/>
              <a:cs typeface="Inter" panose="02000503000000020004"/>
              <a:sym typeface="Inter" panose="02000503000000020004"/>
            </a:endParaRPr>
          </a:p>
        </p:txBody>
      </p:sp>
      <p:grpSp>
        <p:nvGrpSpPr>
          <p:cNvPr id="143" name="Google Shape;143;p18"/>
          <p:cNvGrpSpPr/>
          <p:nvPr/>
        </p:nvGrpSpPr>
        <p:grpSpPr>
          <a:xfrm>
            <a:off x="457200" y="1047750"/>
            <a:ext cx="3981600" cy="1857300"/>
            <a:chOff x="0" y="0"/>
            <a:chExt cx="3981600" cy="1857300"/>
          </a:xfrm>
        </p:grpSpPr>
        <p:sp>
          <p:nvSpPr>
            <p:cNvPr id="144" name="Google Shape;144;p18"/>
            <p:cNvSpPr/>
            <p:nvPr/>
          </p:nvSpPr>
          <p:spPr>
            <a:xfrm>
              <a:off x="0" y="0"/>
              <a:ext cx="3981600" cy="1857300"/>
            </a:xfrm>
            <a:prstGeom prst="roundRect">
              <a:avLst>
                <a:gd name="adj" fmla="val 4102"/>
              </a:avLst>
            </a:prstGeom>
            <a:solidFill>
              <a:srgbClr val="F8F9FA"/>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p>
          </p:txBody>
        </p:sp>
        <p:sp>
          <p:nvSpPr>
            <p:cNvPr id="145" name="Google Shape;145;p18"/>
            <p:cNvSpPr txBox="1"/>
            <p:nvPr/>
          </p:nvSpPr>
          <p:spPr>
            <a:xfrm>
              <a:off x="190500" y="133350"/>
              <a:ext cx="3600600" cy="15906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US" sz="900" b="0">
                  <a:solidFill>
                    <a:srgbClr val="2563EB"/>
                  </a:solidFill>
                  <a:latin typeface="Inter SemiBold" panose="02000503000000020004"/>
                  <a:ea typeface="Inter SemiBold" panose="02000503000000020004"/>
                  <a:cs typeface="Inter SemiBold" panose="02000503000000020004"/>
                  <a:sym typeface="Inter SemiBold" panose="02000503000000020004"/>
                </a:rPr>
                <a:t>Interface Principale</a:t>
              </a:r>
              <a:endParaRPr sz="900" b="0">
                <a:solidFill>
                  <a:srgbClr val="2563EB"/>
                </a:solidFill>
                <a:latin typeface="Inter SemiBold" panose="02000503000000020004"/>
                <a:ea typeface="Inter SemiBold" panose="02000503000000020004"/>
                <a:cs typeface="Inter SemiBold" panose="02000503000000020004"/>
                <a:sym typeface="Inter SemiBold" panose="02000503000000020004"/>
              </a:endParaRPr>
            </a:p>
            <a:p>
              <a:pPr marL="0" lvl="0" indent="0" algn="l" rtl="0">
                <a:spcBef>
                  <a:spcPts val="200"/>
                </a:spcBef>
                <a:spcAft>
                  <a:spcPts val="0"/>
                </a:spcAft>
                <a:buNone/>
              </a:pPr>
              <a:r>
                <a:rPr lang="en-US" sz="1300" b="1">
                  <a:solidFill>
                    <a:srgbClr val="1A202C"/>
                  </a:solidFill>
                  <a:latin typeface="Inter" panose="02000503000000020004"/>
                  <a:ea typeface="Inter" panose="02000503000000020004"/>
                  <a:cs typeface="Inter" panose="02000503000000020004"/>
                  <a:sym typeface="Inter" panose="02000503000000020004"/>
                </a:rPr>
                <a:t>Vue Accueil</a:t>
              </a:r>
              <a:endParaRPr sz="900" b="0">
                <a:solidFill>
                  <a:srgbClr val="2563EB"/>
                </a:solidFill>
                <a:latin typeface="Inter SemiBold" panose="02000503000000020004"/>
                <a:ea typeface="Inter SemiBold" panose="02000503000000020004"/>
                <a:cs typeface="Inter SemiBold" panose="02000503000000020004"/>
                <a:sym typeface="Inter SemiBold" panose="02000503000000020004"/>
              </a:endParaRPr>
            </a:p>
            <a:p>
              <a:pPr marL="0" lvl="0" indent="0" algn="l" rtl="0">
                <a:spcBef>
                  <a:spcPts val="300"/>
                </a:spcBef>
                <a:spcAft>
                  <a:spcPts val="0"/>
                </a:spcAft>
                <a:buNone/>
              </a:pPr>
              <a:r>
                <a:rPr lang="en-US" sz="950" b="0">
                  <a:solidFill>
                    <a:srgbClr val="4A5568"/>
                  </a:solidFill>
                  <a:latin typeface="Inter" panose="02000503000000020004"/>
                  <a:ea typeface="Inter" panose="02000503000000020004"/>
                  <a:cs typeface="Inter" panose="02000503000000020004"/>
                  <a:sym typeface="Inter" panose="02000503000000020004"/>
                </a:rPr>
                <a:t>L'interface regroupe l'accès rapide et la découverte des projets :</a:t>
              </a:r>
              <a:endParaRPr sz="900" b="0">
                <a:solidFill>
                  <a:srgbClr val="2563EB"/>
                </a:solidFill>
                <a:latin typeface="Inter SemiBold" panose="02000503000000020004"/>
                <a:ea typeface="Inter SemiBold" panose="02000503000000020004"/>
                <a:cs typeface="Inter SemiBold" panose="02000503000000020004"/>
                <a:sym typeface="Inter SemiBold" panose="02000503000000020004"/>
              </a:endParaRPr>
            </a:p>
            <a:p>
              <a:pPr marL="457200" lvl="0" indent="-285750" algn="l" rtl="0">
                <a:spcBef>
                  <a:spcPts val="400"/>
                </a:spcBef>
                <a:spcAft>
                  <a:spcPts val="0"/>
                </a:spcAft>
                <a:buClr>
                  <a:srgbClr val="2563EB"/>
                </a:buClr>
                <a:buSzPts val="900"/>
                <a:buFont typeface="Inter" panose="02000503000000020004"/>
                <a:buChar char="●"/>
              </a:pPr>
              <a:r>
                <a:rPr lang="en-US" sz="950" b="0">
                  <a:solidFill>
                    <a:srgbClr val="1A202C"/>
                  </a:solidFill>
                  <a:latin typeface="Inter SemiBold" panose="02000503000000020004"/>
                  <a:ea typeface="Inter SemiBold" panose="02000503000000020004"/>
                  <a:cs typeface="Inter SemiBold" panose="02000503000000020004"/>
                  <a:sym typeface="Inter SemiBold" panose="02000503000000020004"/>
                </a:rPr>
                <a:t>Header :</a:t>
              </a:r>
              <a:r>
                <a:rPr lang="en-US" sz="900" b="0">
                  <a:solidFill>
                    <a:srgbClr val="2563EB"/>
                  </a:solidFill>
                  <a:latin typeface="Inter SemiBold" panose="02000503000000020004"/>
                  <a:ea typeface="Inter SemiBold" panose="02000503000000020004"/>
                  <a:cs typeface="Inter SemiBold" panose="02000503000000020004"/>
                  <a:sym typeface="Inter SemiBold" panose="02000503000000020004"/>
                </a:rPr>
                <a:t> </a:t>
              </a:r>
              <a:r>
                <a:rPr lang="en-US" sz="900" b="0">
                  <a:solidFill>
                    <a:srgbClr val="4A5568"/>
                  </a:solidFill>
                  <a:latin typeface="Inter" panose="02000503000000020004"/>
                  <a:ea typeface="Inter" panose="02000503000000020004"/>
                  <a:cs typeface="Inter" panose="02000503000000020004"/>
                  <a:sym typeface="Inter" panose="02000503000000020004"/>
                </a:rPr>
                <a:t>Navigation claire et accès intuitif.</a:t>
              </a:r>
              <a:endParaRPr sz="900" b="0">
                <a:solidFill>
                  <a:srgbClr val="2563EB"/>
                </a:solidFill>
                <a:latin typeface="Inter SemiBold" panose="02000503000000020004"/>
                <a:ea typeface="Inter SemiBold" panose="02000503000000020004"/>
                <a:cs typeface="Inter SemiBold" panose="02000503000000020004"/>
                <a:sym typeface="Inter SemiBold" panose="02000503000000020004"/>
              </a:endParaRPr>
            </a:p>
            <a:p>
              <a:pPr marL="457200" lvl="0" indent="-285750" algn="l" rtl="0">
                <a:spcBef>
                  <a:spcPts val="200"/>
                </a:spcBef>
                <a:spcAft>
                  <a:spcPts val="0"/>
                </a:spcAft>
                <a:buClr>
                  <a:srgbClr val="2563EB"/>
                </a:buClr>
                <a:buSzPts val="900"/>
                <a:buFont typeface="Inter" panose="02000503000000020004"/>
                <a:buChar char="●"/>
              </a:pPr>
              <a:r>
                <a:rPr lang="en-US" sz="950" b="0">
                  <a:solidFill>
                    <a:srgbClr val="1A202C"/>
                  </a:solidFill>
                  <a:latin typeface="Inter SemiBold" panose="02000503000000020004"/>
                  <a:ea typeface="Inter SemiBold" panose="02000503000000020004"/>
                  <a:cs typeface="Inter SemiBold" panose="02000503000000020004"/>
                  <a:sym typeface="Inter SemiBold" panose="02000503000000020004"/>
                </a:rPr>
                <a:t>Hero section :</a:t>
              </a:r>
              <a:r>
                <a:rPr lang="en-US" sz="900" b="0">
                  <a:solidFill>
                    <a:srgbClr val="2563EB"/>
                  </a:solidFill>
                  <a:latin typeface="Inter SemiBold" panose="02000503000000020004"/>
                  <a:ea typeface="Inter SemiBold" panose="02000503000000020004"/>
                  <a:cs typeface="Inter SemiBold" panose="02000503000000020004"/>
                  <a:sym typeface="Inter SemiBold" panose="02000503000000020004"/>
                </a:rPr>
                <a:t> </a:t>
              </a:r>
              <a:r>
                <a:rPr lang="en-US" sz="900" b="0">
                  <a:solidFill>
                    <a:srgbClr val="4A5568"/>
                  </a:solidFill>
                  <a:latin typeface="Inter" panose="02000503000000020004"/>
                  <a:ea typeface="Inter" panose="02000503000000020004"/>
                  <a:cs typeface="Inter" panose="02000503000000020004"/>
                  <a:sym typeface="Inter" panose="02000503000000020004"/>
                </a:rPr>
                <a:t>Présentation engageante du Hub.</a:t>
              </a:r>
              <a:endParaRPr sz="900" b="0">
                <a:solidFill>
                  <a:srgbClr val="2563EB"/>
                </a:solidFill>
                <a:latin typeface="Inter SemiBold" panose="02000503000000020004"/>
                <a:ea typeface="Inter SemiBold" panose="02000503000000020004"/>
                <a:cs typeface="Inter SemiBold" panose="02000503000000020004"/>
                <a:sym typeface="Inter SemiBold" panose="02000503000000020004"/>
              </a:endParaRPr>
            </a:p>
            <a:p>
              <a:pPr marL="457200" lvl="0" indent="-285750" algn="l" rtl="0">
                <a:spcBef>
                  <a:spcPts val="200"/>
                </a:spcBef>
                <a:spcAft>
                  <a:spcPts val="0"/>
                </a:spcAft>
                <a:buClr>
                  <a:srgbClr val="2563EB"/>
                </a:buClr>
                <a:buSzPts val="900"/>
                <a:buFont typeface="Inter" panose="02000503000000020004"/>
                <a:buChar char="●"/>
              </a:pPr>
              <a:r>
                <a:rPr lang="en-US" sz="950" b="0">
                  <a:solidFill>
                    <a:srgbClr val="1A202C"/>
                  </a:solidFill>
                  <a:latin typeface="Inter SemiBold" panose="02000503000000020004"/>
                  <a:ea typeface="Inter SemiBold" panose="02000503000000020004"/>
                  <a:cs typeface="Inter SemiBold" panose="02000503000000020004"/>
                  <a:sym typeface="Inter SemiBold" panose="02000503000000020004"/>
                </a:rPr>
                <a:t>Recherche &amp; Filtres :</a:t>
              </a:r>
              <a:r>
                <a:rPr lang="en-US" sz="900" b="0">
                  <a:solidFill>
                    <a:srgbClr val="2563EB"/>
                  </a:solidFill>
                  <a:latin typeface="Inter SemiBold" panose="02000503000000020004"/>
                  <a:ea typeface="Inter SemiBold" panose="02000503000000020004"/>
                  <a:cs typeface="Inter SemiBold" panose="02000503000000020004"/>
                  <a:sym typeface="Inter SemiBold" panose="02000503000000020004"/>
                </a:rPr>
                <a:t> </a:t>
              </a:r>
              <a:r>
                <a:rPr lang="en-US" sz="900" b="0">
                  <a:solidFill>
                    <a:srgbClr val="4A5568"/>
                  </a:solidFill>
                  <a:latin typeface="Inter" panose="02000503000000020004"/>
                  <a:ea typeface="Inter" panose="02000503000000020004"/>
                  <a:cs typeface="Inter" panose="02000503000000020004"/>
                  <a:sym typeface="Inter" panose="02000503000000020004"/>
                </a:rPr>
                <a:t>Barre dynamique et catégories.</a:t>
              </a:r>
              <a:endParaRPr sz="900" b="0">
                <a:solidFill>
                  <a:srgbClr val="2563EB"/>
                </a:solidFill>
                <a:latin typeface="Inter SemiBold" panose="02000503000000020004"/>
                <a:ea typeface="Inter SemiBold" panose="02000503000000020004"/>
                <a:cs typeface="Inter SemiBold" panose="02000503000000020004"/>
                <a:sym typeface="Inter SemiBold" panose="02000503000000020004"/>
              </a:endParaRPr>
            </a:p>
            <a:p>
              <a:pPr marL="457200" lvl="0" indent="-285750" algn="l" rtl="0">
                <a:spcBef>
                  <a:spcPts val="200"/>
                </a:spcBef>
                <a:spcAft>
                  <a:spcPts val="200"/>
                </a:spcAft>
                <a:buClr>
                  <a:srgbClr val="2563EB"/>
                </a:buClr>
                <a:buSzPts val="900"/>
                <a:buFont typeface="Inter" panose="02000503000000020004"/>
                <a:buChar char="●"/>
              </a:pPr>
              <a:r>
                <a:rPr lang="en-US" sz="950" b="0">
                  <a:solidFill>
                    <a:srgbClr val="1A202C"/>
                  </a:solidFill>
                  <a:latin typeface="Inter SemiBold" panose="02000503000000020004"/>
                  <a:ea typeface="Inter SemiBold" panose="02000503000000020004"/>
                  <a:cs typeface="Inter SemiBold" panose="02000503000000020004"/>
                  <a:sym typeface="Inter SemiBold" panose="02000503000000020004"/>
                </a:rPr>
                <a:t>Grille de cartes :</a:t>
              </a:r>
              <a:r>
                <a:rPr lang="en-US" sz="900" b="0">
                  <a:solidFill>
                    <a:srgbClr val="2563EB"/>
                  </a:solidFill>
                  <a:latin typeface="Inter SemiBold" panose="02000503000000020004"/>
                  <a:ea typeface="Inter SemiBold" panose="02000503000000020004"/>
                  <a:cs typeface="Inter SemiBold" panose="02000503000000020004"/>
                  <a:sym typeface="Inter SemiBold" panose="02000503000000020004"/>
                </a:rPr>
                <a:t> </a:t>
              </a:r>
              <a:r>
                <a:rPr lang="en-US" sz="900" b="0">
                  <a:solidFill>
                    <a:srgbClr val="4A5568"/>
                  </a:solidFill>
                  <a:latin typeface="Inter" panose="02000503000000020004"/>
                  <a:ea typeface="Inter" panose="02000503000000020004"/>
                  <a:cs typeface="Inter" panose="02000503000000020004"/>
                  <a:sym typeface="Inter" panose="02000503000000020004"/>
                </a:rPr>
                <a:t>Affichage visuel des réalisations.</a:t>
              </a:r>
              <a:endParaRPr sz="900" b="0">
                <a:solidFill>
                  <a:srgbClr val="2563EB"/>
                </a:solidFill>
                <a:latin typeface="Inter SemiBold" panose="02000503000000020004"/>
                <a:ea typeface="Inter SemiBold" panose="02000503000000020004"/>
                <a:cs typeface="Inter SemiBold" panose="02000503000000020004"/>
                <a:sym typeface="Inter SemiBold" panose="02000503000000020004"/>
              </a:endParaRPr>
            </a:p>
          </p:txBody>
        </p:sp>
      </p:grpSp>
      <p:grpSp>
        <p:nvGrpSpPr>
          <p:cNvPr id="146" name="Google Shape;146;p18"/>
          <p:cNvGrpSpPr/>
          <p:nvPr/>
        </p:nvGrpSpPr>
        <p:grpSpPr>
          <a:xfrm>
            <a:off x="457200" y="3171600"/>
            <a:ext cx="3981600" cy="1857300"/>
            <a:chOff x="-4248150" y="2123850"/>
            <a:chExt cx="3981600" cy="1857300"/>
          </a:xfrm>
        </p:grpSpPr>
        <p:sp>
          <p:nvSpPr>
            <p:cNvPr id="147" name="Google Shape;147;p18"/>
            <p:cNvSpPr/>
            <p:nvPr/>
          </p:nvSpPr>
          <p:spPr>
            <a:xfrm>
              <a:off x="-4248150" y="2123850"/>
              <a:ext cx="3981600" cy="1857300"/>
            </a:xfrm>
            <a:prstGeom prst="roundRect">
              <a:avLst>
                <a:gd name="adj" fmla="val 4102"/>
              </a:avLst>
            </a:prstGeom>
            <a:solidFill>
              <a:srgbClr val="F8F9FA"/>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p>
          </p:txBody>
        </p:sp>
        <p:sp>
          <p:nvSpPr>
            <p:cNvPr id="148" name="Google Shape;148;p18"/>
            <p:cNvSpPr txBox="1"/>
            <p:nvPr/>
          </p:nvSpPr>
          <p:spPr>
            <a:xfrm>
              <a:off x="-4057650" y="2257200"/>
              <a:ext cx="3600600" cy="15906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US" sz="900" b="0">
                  <a:solidFill>
                    <a:srgbClr val="2563EB"/>
                  </a:solidFill>
                  <a:latin typeface="Inter SemiBold" panose="02000503000000020004"/>
                  <a:ea typeface="Inter SemiBold" panose="02000503000000020004"/>
                  <a:cs typeface="Inter SemiBold" panose="02000503000000020004"/>
                  <a:sym typeface="Inter SemiBold" panose="02000503000000020004"/>
                </a:rPr>
                <a:t>Vue Approfondie</a:t>
              </a:r>
              <a:endParaRPr sz="900" b="0">
                <a:solidFill>
                  <a:srgbClr val="2563EB"/>
                </a:solidFill>
                <a:latin typeface="Inter SemiBold" panose="02000503000000020004"/>
                <a:ea typeface="Inter SemiBold" panose="02000503000000020004"/>
                <a:cs typeface="Inter SemiBold" panose="02000503000000020004"/>
                <a:sym typeface="Inter SemiBold" panose="02000503000000020004"/>
              </a:endParaRPr>
            </a:p>
            <a:p>
              <a:pPr marL="0" lvl="0" indent="0" algn="l" rtl="0">
                <a:spcBef>
                  <a:spcPts val="200"/>
                </a:spcBef>
                <a:spcAft>
                  <a:spcPts val="0"/>
                </a:spcAft>
                <a:buNone/>
              </a:pPr>
              <a:r>
                <a:rPr lang="en-US" sz="1300" b="1">
                  <a:solidFill>
                    <a:srgbClr val="1A202C"/>
                  </a:solidFill>
                  <a:latin typeface="Inter" panose="02000503000000020004"/>
                  <a:ea typeface="Inter" panose="02000503000000020004"/>
                  <a:cs typeface="Inter" panose="02000503000000020004"/>
                  <a:sym typeface="Inter" panose="02000503000000020004"/>
                </a:rPr>
                <a:t>Vue Détail</a:t>
              </a:r>
              <a:endParaRPr sz="900" b="0">
                <a:solidFill>
                  <a:srgbClr val="2563EB"/>
                </a:solidFill>
                <a:latin typeface="Inter SemiBold" panose="02000503000000020004"/>
                <a:ea typeface="Inter SemiBold" panose="02000503000000020004"/>
                <a:cs typeface="Inter SemiBold" panose="02000503000000020004"/>
                <a:sym typeface="Inter SemiBold" panose="02000503000000020004"/>
              </a:endParaRPr>
            </a:p>
            <a:p>
              <a:pPr marL="457200" lvl="0" indent="-285750" algn="l" rtl="0">
                <a:spcBef>
                  <a:spcPts val="300"/>
                </a:spcBef>
                <a:spcAft>
                  <a:spcPts val="0"/>
                </a:spcAft>
                <a:buClr>
                  <a:srgbClr val="2563EB"/>
                </a:buClr>
                <a:buSzPts val="900"/>
                <a:buFont typeface="Inter" panose="02000503000000020004"/>
                <a:buChar char="●"/>
              </a:pPr>
              <a:r>
                <a:rPr lang="en-US" sz="950" b="0">
                  <a:solidFill>
                    <a:srgbClr val="1A202C"/>
                  </a:solidFill>
                  <a:latin typeface="Inter SemiBold" panose="02000503000000020004"/>
                  <a:ea typeface="Inter SemiBold" panose="02000503000000020004"/>
                  <a:cs typeface="Inter SemiBold" panose="02000503000000020004"/>
                  <a:sym typeface="Inter SemiBold" panose="02000503000000020004"/>
                </a:rPr>
                <a:t>Navigation :</a:t>
              </a:r>
              <a:r>
                <a:rPr lang="en-US" sz="900" b="0">
                  <a:solidFill>
                    <a:srgbClr val="2563EB"/>
                  </a:solidFill>
                  <a:latin typeface="Inter SemiBold" panose="02000503000000020004"/>
                  <a:ea typeface="Inter SemiBold" panose="02000503000000020004"/>
                  <a:cs typeface="Inter SemiBold" panose="02000503000000020004"/>
                  <a:sym typeface="Inter SemiBold" panose="02000503000000020004"/>
                </a:rPr>
                <a:t> </a:t>
              </a:r>
              <a:r>
                <a:rPr lang="en-US" sz="900" b="0">
                  <a:solidFill>
                    <a:srgbClr val="4A5568"/>
                  </a:solidFill>
                  <a:latin typeface="Inter" panose="02000503000000020004"/>
                  <a:ea typeface="Inter" panose="02000503000000020004"/>
                  <a:cs typeface="Inter" panose="02000503000000020004"/>
                  <a:sym typeface="Inter" panose="02000503000000020004"/>
                </a:rPr>
                <a:t>Bouton de retour pour une navigation fluide.</a:t>
              </a:r>
              <a:endParaRPr sz="900" b="0">
                <a:solidFill>
                  <a:srgbClr val="2563EB"/>
                </a:solidFill>
                <a:latin typeface="Inter SemiBold" panose="02000503000000020004"/>
                <a:ea typeface="Inter SemiBold" panose="02000503000000020004"/>
                <a:cs typeface="Inter SemiBold" panose="02000503000000020004"/>
                <a:sym typeface="Inter SemiBold" panose="02000503000000020004"/>
              </a:endParaRPr>
            </a:p>
            <a:p>
              <a:pPr marL="457200" lvl="0" indent="-285750" algn="l" rtl="0">
                <a:spcBef>
                  <a:spcPts val="300"/>
                </a:spcBef>
                <a:spcAft>
                  <a:spcPts val="0"/>
                </a:spcAft>
                <a:buClr>
                  <a:srgbClr val="2563EB"/>
                </a:buClr>
                <a:buSzPts val="900"/>
                <a:buFont typeface="Inter" panose="02000503000000020004"/>
                <a:buChar char="●"/>
              </a:pPr>
              <a:r>
                <a:rPr lang="en-US" sz="950" b="0">
                  <a:solidFill>
                    <a:srgbClr val="1A202C"/>
                  </a:solidFill>
                  <a:latin typeface="Inter SemiBold" panose="02000503000000020004"/>
                  <a:ea typeface="Inter SemiBold" panose="02000503000000020004"/>
                  <a:cs typeface="Inter SemiBold" panose="02000503000000020004"/>
                  <a:sym typeface="Inter SemiBold" panose="02000503000000020004"/>
                </a:rPr>
                <a:t>Visuel principal :</a:t>
              </a:r>
              <a:r>
                <a:rPr lang="en-US" sz="900" b="0">
                  <a:solidFill>
                    <a:srgbClr val="2563EB"/>
                  </a:solidFill>
                  <a:latin typeface="Inter SemiBold" panose="02000503000000020004"/>
                  <a:ea typeface="Inter SemiBold" panose="02000503000000020004"/>
                  <a:cs typeface="Inter SemiBold" panose="02000503000000020004"/>
                  <a:sym typeface="Inter SemiBold" panose="02000503000000020004"/>
                </a:rPr>
                <a:t> </a:t>
              </a:r>
              <a:r>
                <a:rPr lang="en-US" sz="900" b="0">
                  <a:solidFill>
                    <a:srgbClr val="4A5568"/>
                  </a:solidFill>
                  <a:latin typeface="Inter" panose="02000503000000020004"/>
                  <a:ea typeface="Inter" panose="02000503000000020004"/>
                  <a:cs typeface="Inter" panose="02000503000000020004"/>
                  <a:sym typeface="Inter" panose="02000503000000020004"/>
                </a:rPr>
                <a:t>Bannière de présentation du projet.</a:t>
              </a:r>
              <a:endParaRPr sz="900" b="0">
                <a:solidFill>
                  <a:srgbClr val="2563EB"/>
                </a:solidFill>
                <a:latin typeface="Inter SemiBold" panose="02000503000000020004"/>
                <a:ea typeface="Inter SemiBold" panose="02000503000000020004"/>
                <a:cs typeface="Inter SemiBold" panose="02000503000000020004"/>
                <a:sym typeface="Inter SemiBold" panose="02000503000000020004"/>
              </a:endParaRPr>
            </a:p>
            <a:p>
              <a:pPr marL="457200" lvl="0" indent="-285750" algn="l" rtl="0">
                <a:spcBef>
                  <a:spcPts val="300"/>
                </a:spcBef>
                <a:spcAft>
                  <a:spcPts val="0"/>
                </a:spcAft>
                <a:buClr>
                  <a:srgbClr val="2563EB"/>
                </a:buClr>
                <a:buSzPts val="900"/>
                <a:buFont typeface="Inter" panose="02000503000000020004"/>
                <a:buChar char="●"/>
              </a:pPr>
              <a:r>
                <a:rPr lang="en-US" sz="950" b="0">
                  <a:solidFill>
                    <a:srgbClr val="1A202C"/>
                  </a:solidFill>
                  <a:latin typeface="Inter SemiBold" panose="02000503000000020004"/>
                  <a:ea typeface="Inter SemiBold" panose="02000503000000020004"/>
                  <a:cs typeface="Inter SemiBold" panose="02000503000000020004"/>
                  <a:sym typeface="Inter SemiBold" panose="02000503000000020004"/>
                </a:rPr>
                <a:t>Analyse approfondie :</a:t>
              </a:r>
              <a:r>
                <a:rPr lang="en-US" sz="900" b="0">
                  <a:solidFill>
                    <a:srgbClr val="2563EB"/>
                  </a:solidFill>
                  <a:latin typeface="Inter SemiBold" panose="02000503000000020004"/>
                  <a:ea typeface="Inter SemiBold" panose="02000503000000020004"/>
                  <a:cs typeface="Inter SemiBold" panose="02000503000000020004"/>
                  <a:sym typeface="Inter SemiBold" panose="02000503000000020004"/>
                </a:rPr>
                <a:t> </a:t>
              </a:r>
              <a:r>
                <a:rPr lang="en-US" sz="900" b="0">
                  <a:solidFill>
                    <a:srgbClr val="4A5568"/>
                  </a:solidFill>
                  <a:latin typeface="Inter" panose="02000503000000020004"/>
                  <a:ea typeface="Inter" panose="02000503000000020004"/>
                  <a:cs typeface="Inter" panose="02000503000000020004"/>
                  <a:sym typeface="Inter" panose="02000503000000020004"/>
                </a:rPr>
                <a:t>Problématique et solution apportée.</a:t>
              </a:r>
              <a:endParaRPr sz="900" b="0">
                <a:solidFill>
                  <a:srgbClr val="2563EB"/>
                </a:solidFill>
                <a:latin typeface="Inter SemiBold" panose="02000503000000020004"/>
                <a:ea typeface="Inter SemiBold" panose="02000503000000020004"/>
                <a:cs typeface="Inter SemiBold" panose="02000503000000020004"/>
                <a:sym typeface="Inter SemiBold" panose="02000503000000020004"/>
              </a:endParaRPr>
            </a:p>
            <a:p>
              <a:pPr marL="457200" lvl="0" indent="-285750" algn="l" rtl="0">
                <a:spcBef>
                  <a:spcPts val="300"/>
                </a:spcBef>
                <a:spcAft>
                  <a:spcPts val="300"/>
                </a:spcAft>
                <a:buClr>
                  <a:srgbClr val="2563EB"/>
                </a:buClr>
                <a:buSzPts val="900"/>
                <a:buFont typeface="Inter" panose="02000503000000020004"/>
                <a:buChar char="●"/>
              </a:pPr>
              <a:r>
                <a:rPr lang="en-US" sz="950" b="0">
                  <a:solidFill>
                    <a:srgbClr val="1A202C"/>
                  </a:solidFill>
                  <a:latin typeface="Inter SemiBold" panose="02000503000000020004"/>
                  <a:ea typeface="Inter SemiBold" panose="02000503000000020004"/>
                  <a:cs typeface="Inter SemiBold" panose="02000503000000020004"/>
                  <a:sym typeface="Inter SemiBold" panose="02000503000000020004"/>
                </a:rPr>
                <a:t>Badges technologiques :</a:t>
              </a:r>
              <a:r>
                <a:rPr lang="en-US" sz="900" b="0">
                  <a:solidFill>
                    <a:srgbClr val="2563EB"/>
                  </a:solidFill>
                  <a:latin typeface="Inter SemiBold" panose="02000503000000020004"/>
                  <a:ea typeface="Inter SemiBold" panose="02000503000000020004"/>
                  <a:cs typeface="Inter SemiBold" panose="02000503000000020004"/>
                  <a:sym typeface="Inter SemiBold" panose="02000503000000020004"/>
                </a:rPr>
                <a:t> </a:t>
              </a:r>
              <a:r>
                <a:rPr lang="en-US" sz="900" b="0">
                  <a:solidFill>
                    <a:srgbClr val="4A5568"/>
                  </a:solidFill>
                  <a:latin typeface="Inter" panose="02000503000000020004"/>
                  <a:ea typeface="Inter" panose="02000503000000020004"/>
                  <a:cs typeface="Inter" panose="02000503000000020004"/>
                  <a:sym typeface="Inter" panose="02000503000000020004"/>
                </a:rPr>
                <a:t>Identification des outils et stack.</a:t>
              </a:r>
              <a:endParaRPr sz="900" b="0">
                <a:solidFill>
                  <a:srgbClr val="2563EB"/>
                </a:solidFill>
                <a:latin typeface="Inter SemiBold" panose="02000503000000020004"/>
                <a:ea typeface="Inter SemiBold" panose="02000503000000020004"/>
                <a:cs typeface="Inter SemiBold" panose="02000503000000020004"/>
                <a:sym typeface="Inter SemiBold" panose="02000503000000020004"/>
              </a:endParaRPr>
            </a:p>
          </p:txBody>
        </p:sp>
      </p:grpSp>
      <p:pic>
        <p:nvPicPr>
          <p:cNvPr id="149" name="Google Shape;149;p18"/>
          <p:cNvPicPr preferRelativeResize="0"/>
          <p:nvPr/>
        </p:nvPicPr>
        <p:blipFill>
          <a:blip r:embed="rId1"/>
          <a:stretch>
            <a:fillRect/>
          </a:stretch>
        </p:blipFill>
        <p:spPr>
          <a:xfrm>
            <a:off x="5330100" y="860075"/>
            <a:ext cx="2747100" cy="2027100"/>
          </a:xfrm>
          <a:prstGeom prst="rect">
            <a:avLst/>
          </a:prstGeom>
          <a:noFill/>
          <a:ln>
            <a:noFill/>
          </a:ln>
        </p:spPr>
      </p:pic>
      <p:pic>
        <p:nvPicPr>
          <p:cNvPr id="150" name="Google Shape;150;p18"/>
          <p:cNvPicPr preferRelativeResize="0"/>
          <p:nvPr/>
        </p:nvPicPr>
        <p:blipFill>
          <a:blip r:embed="rId2"/>
          <a:stretch>
            <a:fillRect/>
          </a:stretch>
        </p:blipFill>
        <p:spPr>
          <a:xfrm>
            <a:off x="5330100" y="2966050"/>
            <a:ext cx="2747100" cy="21774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54" name="Shape 154"/>
        <p:cNvGrpSpPr/>
        <p:nvPr/>
      </p:nvGrpSpPr>
      <p:grpSpPr>
        <a:xfrm>
          <a:off x="0" y="0"/>
          <a:ext cx="0" cy="0"/>
          <a:chOff x="0" y="0"/>
          <a:chExt cx="0" cy="0"/>
        </a:xfrm>
      </p:grpSpPr>
      <p:grpSp>
        <p:nvGrpSpPr>
          <p:cNvPr id="155" name="Google Shape;155;p19"/>
          <p:cNvGrpSpPr/>
          <p:nvPr/>
        </p:nvGrpSpPr>
        <p:grpSpPr>
          <a:xfrm>
            <a:off x="457200" y="304800"/>
            <a:ext cx="8305800" cy="666900"/>
            <a:chOff x="457200" y="304800"/>
            <a:chExt cx="8305800" cy="666900"/>
          </a:xfrm>
        </p:grpSpPr>
        <p:grpSp>
          <p:nvGrpSpPr>
            <p:cNvPr id="156" name="Google Shape;156;p19"/>
            <p:cNvGrpSpPr/>
            <p:nvPr/>
          </p:nvGrpSpPr>
          <p:grpSpPr>
            <a:xfrm>
              <a:off x="8458200" y="304800"/>
              <a:ext cx="304800" cy="304800"/>
              <a:chOff x="0" y="0"/>
              <a:chExt cx="304800" cy="304800"/>
            </a:xfrm>
          </p:grpSpPr>
          <p:sp>
            <p:nvSpPr>
              <p:cNvPr id="157" name="Google Shape;157;p19"/>
              <p:cNvSpPr/>
              <p:nvPr/>
            </p:nvSpPr>
            <p:spPr>
              <a:xfrm>
                <a:off x="0" y="0"/>
                <a:ext cx="228600" cy="228600"/>
              </a:xfrm>
              <a:prstGeom prst="roundRect">
                <a:avLst>
                  <a:gd name="adj" fmla="val 16666"/>
                </a:avLst>
              </a:prstGeom>
              <a:solidFill>
                <a:srgbClr val="DBEAFE"/>
              </a:solidFill>
              <a:ln>
                <a:noFill/>
              </a:ln>
            </p:spPr>
            <p:txBody>
              <a:bodyPr spcFirstLastPara="1" wrap="square" lIns="0" tIns="0" rIns="0" bIns="0" anchor="ctr" anchorCtr="0">
                <a:noAutofit/>
              </a:bodyPr>
              <a:lstStyle/>
              <a:p>
                <a:pPr marL="0" lvl="0" indent="0" algn="l" rtl="0">
                  <a:spcBef>
                    <a:spcPts val="0"/>
                  </a:spcBef>
                  <a:spcAft>
                    <a:spcPts val="0"/>
                  </a:spcAft>
                  <a:buNone/>
                </a:pPr>
              </a:p>
            </p:txBody>
          </p:sp>
          <p:sp>
            <p:nvSpPr>
              <p:cNvPr id="158" name="Google Shape;158;p19"/>
              <p:cNvSpPr/>
              <p:nvPr/>
            </p:nvSpPr>
            <p:spPr>
              <a:xfrm>
                <a:off x="76200" y="76200"/>
                <a:ext cx="228600" cy="228600"/>
              </a:xfrm>
              <a:prstGeom prst="roundRect">
                <a:avLst>
                  <a:gd name="adj" fmla="val 16666"/>
                </a:avLst>
              </a:prstGeom>
              <a:solidFill>
                <a:srgbClr val="2563EB"/>
              </a:solidFill>
              <a:ln>
                <a:noFill/>
              </a:ln>
            </p:spPr>
            <p:txBody>
              <a:bodyPr spcFirstLastPara="1" wrap="square" lIns="0" tIns="0" rIns="0" bIns="0" anchor="ctr" anchorCtr="0">
                <a:noAutofit/>
              </a:bodyPr>
              <a:lstStyle/>
              <a:p>
                <a:pPr marL="0" lvl="0" indent="0" algn="l" rtl="0">
                  <a:spcBef>
                    <a:spcPts val="0"/>
                  </a:spcBef>
                  <a:spcAft>
                    <a:spcPts val="0"/>
                  </a:spcAft>
                  <a:buNone/>
                </a:pPr>
              </a:p>
            </p:txBody>
          </p:sp>
        </p:grpSp>
        <p:sp>
          <p:nvSpPr>
            <p:cNvPr id="159" name="Google Shape;159;p19"/>
            <p:cNvSpPr/>
            <p:nvPr/>
          </p:nvSpPr>
          <p:spPr>
            <a:xfrm>
              <a:off x="457200" y="952500"/>
              <a:ext cx="8229600" cy="19200"/>
            </a:xfrm>
            <a:prstGeom prst="rect">
              <a:avLst/>
            </a:prstGeom>
            <a:solidFill>
              <a:srgbClr val="E2E8F0"/>
            </a:solidFill>
            <a:ln>
              <a:noFill/>
            </a:ln>
          </p:spPr>
          <p:txBody>
            <a:bodyPr spcFirstLastPara="1" wrap="square" lIns="0" tIns="0" rIns="0" bIns="0" anchor="ctr" anchorCtr="0">
              <a:noAutofit/>
            </a:bodyPr>
            <a:lstStyle/>
            <a:p>
              <a:pPr marL="0" lvl="0" indent="0" algn="l" rtl="0">
                <a:spcBef>
                  <a:spcPts val="0"/>
                </a:spcBef>
                <a:spcAft>
                  <a:spcPts val="0"/>
                </a:spcAft>
                <a:buNone/>
              </a:pPr>
            </a:p>
          </p:txBody>
        </p:sp>
      </p:grpSp>
      <p:sp>
        <p:nvSpPr>
          <p:cNvPr id="160" name="Google Shape;160;p19"/>
          <p:cNvSpPr txBox="1"/>
          <p:nvPr/>
        </p:nvSpPr>
        <p:spPr>
          <a:xfrm>
            <a:off x="457200" y="342900"/>
            <a:ext cx="7620000" cy="571500"/>
          </a:xfrm>
          <a:prstGeom prst="rect">
            <a:avLst/>
          </a:prstGeom>
          <a:noFill/>
          <a:ln>
            <a:noFill/>
          </a:ln>
        </p:spPr>
        <p:txBody>
          <a:bodyPr spcFirstLastPara="1" wrap="square" lIns="0" tIns="0" rIns="0" bIns="0" anchor="t" anchorCtr="0">
            <a:noAutofit/>
          </a:bodyPr>
          <a:lstStyle/>
          <a:p>
            <a:pPr marL="0" lvl="0" indent="0" algn="l" rtl="0">
              <a:spcBef>
                <a:spcPts val="0"/>
              </a:spcBef>
              <a:spcAft>
                <a:spcPts val="900"/>
              </a:spcAft>
              <a:buNone/>
            </a:pPr>
            <a:r>
              <a:rPr lang="en-US" sz="2240" b="1">
                <a:solidFill>
                  <a:srgbClr val="1A202C"/>
                </a:solidFill>
                <a:latin typeface="Inter" panose="02000503000000020004"/>
                <a:ea typeface="Inter" panose="02000503000000020004"/>
                <a:cs typeface="Inter" panose="02000503000000020004"/>
                <a:sym typeface="Inter" panose="02000503000000020004"/>
              </a:rPr>
              <a:t>Une fondation technique robuste en HTML5 et CSS3</a:t>
            </a:r>
            <a:endParaRPr sz="2240" b="1">
              <a:solidFill>
                <a:srgbClr val="1A202C"/>
              </a:solidFill>
              <a:latin typeface="Inter" panose="02000503000000020004"/>
              <a:ea typeface="Inter" panose="02000503000000020004"/>
              <a:cs typeface="Inter" panose="02000503000000020004"/>
              <a:sym typeface="Inter" panose="02000503000000020004"/>
            </a:endParaRPr>
          </a:p>
        </p:txBody>
      </p:sp>
      <p:grpSp>
        <p:nvGrpSpPr>
          <p:cNvPr id="161" name="Google Shape;161;p19"/>
          <p:cNvGrpSpPr/>
          <p:nvPr/>
        </p:nvGrpSpPr>
        <p:grpSpPr>
          <a:xfrm>
            <a:off x="457200" y="1238250"/>
            <a:ext cx="3981600" cy="3333900"/>
            <a:chOff x="0" y="0"/>
            <a:chExt cx="3981600" cy="3333900"/>
          </a:xfrm>
        </p:grpSpPr>
        <p:sp>
          <p:nvSpPr>
            <p:cNvPr id="162" name="Google Shape;162;p19"/>
            <p:cNvSpPr/>
            <p:nvPr/>
          </p:nvSpPr>
          <p:spPr>
            <a:xfrm>
              <a:off x="0" y="0"/>
              <a:ext cx="3981600" cy="3333900"/>
            </a:xfrm>
            <a:prstGeom prst="roundRect">
              <a:avLst>
                <a:gd name="adj" fmla="val 3428"/>
              </a:avLst>
            </a:prstGeom>
            <a:solidFill>
              <a:srgbClr val="F8F9FA"/>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p>
          </p:txBody>
        </p:sp>
        <p:sp>
          <p:nvSpPr>
            <p:cNvPr id="163" name="Google Shape;163;p19"/>
            <p:cNvSpPr/>
            <p:nvPr/>
          </p:nvSpPr>
          <p:spPr>
            <a:xfrm>
              <a:off x="0" y="0"/>
              <a:ext cx="3981600" cy="57300"/>
            </a:xfrm>
            <a:prstGeom prst="roundRect">
              <a:avLst>
                <a:gd name="adj" fmla="val 50000"/>
              </a:avLst>
            </a:prstGeom>
            <a:solidFill>
              <a:srgbClr val="2563EB"/>
            </a:solidFill>
            <a:ln>
              <a:noFill/>
            </a:ln>
          </p:spPr>
          <p:txBody>
            <a:bodyPr spcFirstLastPara="1" wrap="square" lIns="0" tIns="0" rIns="0" bIns="0" anchor="ctr" anchorCtr="0">
              <a:noAutofit/>
            </a:bodyPr>
            <a:lstStyle/>
            <a:p>
              <a:pPr marL="0" lvl="0" indent="0" algn="l" rtl="0">
                <a:spcBef>
                  <a:spcPts val="0"/>
                </a:spcBef>
                <a:spcAft>
                  <a:spcPts val="0"/>
                </a:spcAft>
                <a:buNone/>
              </a:pPr>
            </a:p>
          </p:txBody>
        </p:sp>
        <p:sp>
          <p:nvSpPr>
            <p:cNvPr id="164" name="Google Shape;164;p19"/>
            <p:cNvSpPr txBox="1"/>
            <p:nvPr/>
          </p:nvSpPr>
          <p:spPr>
            <a:xfrm>
              <a:off x="266700" y="266700"/>
              <a:ext cx="3448200" cy="2800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000" b="0">
                  <a:solidFill>
                    <a:srgbClr val="2563EB"/>
                  </a:solidFill>
                  <a:latin typeface="Inter SemiBold" panose="02000503000000020004"/>
                  <a:ea typeface="Inter SemiBold" panose="02000503000000020004"/>
                  <a:cs typeface="Inter SemiBold" panose="02000503000000020004"/>
                  <a:sym typeface="Inter SemiBold" panose="02000503000000020004"/>
                </a:rPr>
                <a:t>Structure &amp; Accessibilité</a:t>
              </a:r>
              <a:endParaRPr sz="1000" b="0">
                <a:solidFill>
                  <a:srgbClr val="2563EB"/>
                </a:solidFill>
                <a:latin typeface="Inter SemiBold" panose="02000503000000020004"/>
                <a:ea typeface="Inter SemiBold" panose="02000503000000020004"/>
                <a:cs typeface="Inter SemiBold" panose="02000503000000020004"/>
                <a:sym typeface="Inter SemiBold" panose="02000503000000020004"/>
              </a:endParaRPr>
            </a:p>
            <a:p>
              <a:pPr marL="0" lvl="0" indent="0" algn="l" rtl="0">
                <a:spcBef>
                  <a:spcPts val="450"/>
                </a:spcBef>
                <a:spcAft>
                  <a:spcPts val="0"/>
                </a:spcAft>
                <a:buNone/>
              </a:pPr>
              <a:r>
                <a:rPr lang="en-US" sz="1600" b="1">
                  <a:solidFill>
                    <a:srgbClr val="1A202C"/>
                  </a:solidFill>
                  <a:latin typeface="Inter" panose="02000503000000020004"/>
                  <a:ea typeface="Inter" panose="02000503000000020004"/>
                  <a:cs typeface="Inter" panose="02000503000000020004"/>
                  <a:sym typeface="Inter" panose="02000503000000020004"/>
                </a:rPr>
                <a:t>HTML5 Sémantique</a:t>
              </a:r>
              <a:endParaRPr sz="1600" b="1">
                <a:solidFill>
                  <a:srgbClr val="1A202C"/>
                </a:solidFill>
                <a:latin typeface="Inter" panose="02000503000000020004"/>
                <a:ea typeface="Inter" panose="02000503000000020004"/>
                <a:cs typeface="Inter" panose="02000503000000020004"/>
                <a:sym typeface="Inter" panose="02000503000000020004"/>
              </a:endParaRPr>
            </a:p>
            <a:p>
              <a:pPr marL="0" lvl="0" indent="0" algn="l" rtl="0">
                <a:spcBef>
                  <a:spcPts val="900"/>
                </a:spcBef>
                <a:spcAft>
                  <a:spcPts val="0"/>
                </a:spcAft>
                <a:buNone/>
              </a:pPr>
              <a:r>
                <a:rPr lang="en-US" sz="1300" b="0">
                  <a:solidFill>
                    <a:srgbClr val="4A5568"/>
                  </a:solidFill>
                  <a:latin typeface="Inter" panose="02000503000000020004"/>
                  <a:ea typeface="Inter" panose="02000503000000020004"/>
                  <a:cs typeface="Inter" panose="02000503000000020004"/>
                  <a:sym typeface="Inter" panose="02000503000000020004"/>
                </a:rPr>
                <a:t>Le développement s'appuie sur une utilisation d'un balisage rigoureux et accessible. L'intégration des balises structurelles modernes permet d'optimiser le référencement naturel et la lisibilité globale du code source.</a:t>
              </a:r>
              <a:endParaRPr sz="1300" b="0">
                <a:solidFill>
                  <a:srgbClr val="4A5568"/>
                </a:solidFill>
                <a:latin typeface="Inter" panose="02000503000000020004"/>
                <a:ea typeface="Inter" panose="02000503000000020004"/>
                <a:cs typeface="Inter" panose="02000503000000020004"/>
                <a:sym typeface="Inter" panose="02000503000000020004"/>
              </a:endParaRPr>
            </a:p>
            <a:p>
              <a:pPr marL="0" lvl="0" indent="0" algn="l" rtl="0">
                <a:spcBef>
                  <a:spcPts val="1200"/>
                </a:spcBef>
                <a:spcAft>
                  <a:spcPts val="0"/>
                </a:spcAft>
                <a:buNone/>
              </a:pPr>
              <a:r>
                <a:rPr lang="en-US" sz="1000" b="0">
                  <a:solidFill>
                    <a:srgbClr val="4A5568"/>
                  </a:solidFill>
                  <a:latin typeface="Inter SemiBold" panose="02000503000000020004"/>
                  <a:ea typeface="Inter SemiBold" panose="02000503000000020004"/>
                  <a:cs typeface="Inter SemiBold" panose="02000503000000020004"/>
                  <a:sym typeface="Inter SemiBold" panose="02000503000000020004"/>
                </a:rPr>
                <a:t>Balises clés intégrées :</a:t>
              </a:r>
              <a:endParaRPr sz="1000" b="0">
                <a:solidFill>
                  <a:srgbClr val="4A5568"/>
                </a:solidFill>
                <a:latin typeface="Inter SemiBold" panose="02000503000000020004"/>
                <a:ea typeface="Inter SemiBold" panose="02000503000000020004"/>
                <a:cs typeface="Inter SemiBold" panose="02000503000000020004"/>
                <a:sym typeface="Inter SemiBold" panose="02000503000000020004"/>
              </a:endParaRPr>
            </a:p>
            <a:p>
              <a:pPr marL="0" lvl="0" indent="0" algn="l" rtl="0">
                <a:spcBef>
                  <a:spcPts val="450"/>
                </a:spcBef>
                <a:spcAft>
                  <a:spcPts val="0"/>
                </a:spcAft>
                <a:buNone/>
              </a:pPr>
              <a:r>
                <a:rPr lang="en-US" sz="900" b="0">
                  <a:solidFill>
                    <a:srgbClr val="2563EB"/>
                  </a:solidFill>
                  <a:latin typeface="Inter SemiBold" panose="02000503000000020004"/>
                  <a:ea typeface="Inter SemiBold" panose="02000503000000020004"/>
                  <a:cs typeface="Inter SemiBold" panose="02000503000000020004"/>
                  <a:sym typeface="Inter SemiBold" panose="02000503000000020004"/>
                </a:rPr>
                <a:t>&lt;header&gt;</a:t>
              </a:r>
              <a:r>
                <a:rPr lang="en-US"/>
                <a:t> </a:t>
              </a:r>
              <a:r>
                <a:rPr lang="en-US" sz="900" b="0">
                  <a:solidFill>
                    <a:srgbClr val="2563EB"/>
                  </a:solidFill>
                  <a:latin typeface="Inter SemiBold" panose="02000503000000020004"/>
                  <a:ea typeface="Inter SemiBold" panose="02000503000000020004"/>
                  <a:cs typeface="Inter SemiBold" panose="02000503000000020004"/>
                  <a:sym typeface="Inter SemiBold" panose="02000503000000020004"/>
                </a:rPr>
                <a:t>&lt;nav&gt;</a:t>
              </a:r>
              <a:r>
                <a:rPr lang="en-US"/>
                <a:t> </a:t>
              </a:r>
              <a:r>
                <a:rPr lang="en-US" sz="900" b="0">
                  <a:solidFill>
                    <a:srgbClr val="2563EB"/>
                  </a:solidFill>
                  <a:latin typeface="Inter SemiBold" panose="02000503000000020004"/>
                  <a:ea typeface="Inter SemiBold" panose="02000503000000020004"/>
                  <a:cs typeface="Inter SemiBold" panose="02000503000000020004"/>
                  <a:sym typeface="Inter SemiBold" panose="02000503000000020004"/>
                </a:rPr>
                <a:t>&lt;main&gt;</a:t>
              </a:r>
              <a:r>
                <a:rPr lang="en-US"/>
                <a:t> </a:t>
              </a:r>
              <a:r>
                <a:rPr lang="en-US" sz="900" b="0">
                  <a:solidFill>
                    <a:srgbClr val="2563EB"/>
                  </a:solidFill>
                  <a:latin typeface="Inter SemiBold" panose="02000503000000020004"/>
                  <a:ea typeface="Inter SemiBold" panose="02000503000000020004"/>
                  <a:cs typeface="Inter SemiBold" panose="02000503000000020004"/>
                  <a:sym typeface="Inter SemiBold" panose="02000503000000020004"/>
                </a:rPr>
                <a:t>&lt;article&gt;</a:t>
              </a:r>
              <a:r>
                <a:rPr lang="en-US"/>
                <a:t> </a:t>
              </a:r>
              <a:r>
                <a:rPr lang="en-US" sz="900" b="0">
                  <a:solidFill>
                    <a:srgbClr val="2563EB"/>
                  </a:solidFill>
                  <a:latin typeface="Inter SemiBold" panose="02000503000000020004"/>
                  <a:ea typeface="Inter SemiBold" panose="02000503000000020004"/>
                  <a:cs typeface="Inter SemiBold" panose="02000503000000020004"/>
                  <a:sym typeface="Inter SemiBold" panose="02000503000000020004"/>
                </a:rPr>
                <a:t>&lt;footer&gt;</a:t>
              </a:r>
              <a:endParaRPr lang="en-US" sz="900" b="0">
                <a:solidFill>
                  <a:srgbClr val="2563EB"/>
                </a:solidFill>
                <a:latin typeface="Inter SemiBold" panose="02000503000000020004"/>
                <a:ea typeface="Inter SemiBold" panose="02000503000000020004"/>
                <a:cs typeface="Inter SemiBold" panose="02000503000000020004"/>
                <a:sym typeface="Inter SemiBold" panose="02000503000000020004"/>
              </a:endParaRPr>
            </a:p>
          </p:txBody>
        </p:sp>
      </p:grpSp>
      <p:grpSp>
        <p:nvGrpSpPr>
          <p:cNvPr id="165" name="Google Shape;165;p19"/>
          <p:cNvGrpSpPr/>
          <p:nvPr/>
        </p:nvGrpSpPr>
        <p:grpSpPr>
          <a:xfrm>
            <a:off x="4705350" y="1238250"/>
            <a:ext cx="3981600" cy="3333900"/>
            <a:chOff x="0" y="0"/>
            <a:chExt cx="3981600" cy="3333900"/>
          </a:xfrm>
        </p:grpSpPr>
        <p:sp>
          <p:nvSpPr>
            <p:cNvPr id="166" name="Google Shape;166;p19"/>
            <p:cNvSpPr/>
            <p:nvPr/>
          </p:nvSpPr>
          <p:spPr>
            <a:xfrm>
              <a:off x="0" y="0"/>
              <a:ext cx="3981600" cy="3333900"/>
            </a:xfrm>
            <a:prstGeom prst="roundRect">
              <a:avLst>
                <a:gd name="adj" fmla="val 3428"/>
              </a:avLst>
            </a:prstGeom>
            <a:solidFill>
              <a:srgbClr val="F8F9FA"/>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p>
          </p:txBody>
        </p:sp>
        <p:sp>
          <p:nvSpPr>
            <p:cNvPr id="167" name="Google Shape;167;p19"/>
            <p:cNvSpPr/>
            <p:nvPr/>
          </p:nvSpPr>
          <p:spPr>
            <a:xfrm>
              <a:off x="0" y="0"/>
              <a:ext cx="3981600" cy="57300"/>
            </a:xfrm>
            <a:prstGeom prst="roundRect">
              <a:avLst>
                <a:gd name="adj" fmla="val 50000"/>
              </a:avLst>
            </a:prstGeom>
            <a:solidFill>
              <a:srgbClr val="2563EB"/>
            </a:solidFill>
            <a:ln>
              <a:noFill/>
            </a:ln>
          </p:spPr>
          <p:txBody>
            <a:bodyPr spcFirstLastPara="1" wrap="square" lIns="0" tIns="0" rIns="0" bIns="0" anchor="ctr" anchorCtr="0">
              <a:noAutofit/>
            </a:bodyPr>
            <a:lstStyle/>
            <a:p>
              <a:pPr marL="0" lvl="0" indent="0" algn="l" rtl="0">
                <a:spcBef>
                  <a:spcPts val="0"/>
                </a:spcBef>
                <a:spcAft>
                  <a:spcPts val="0"/>
                </a:spcAft>
                <a:buNone/>
              </a:pPr>
            </a:p>
          </p:txBody>
        </p:sp>
        <p:sp>
          <p:nvSpPr>
            <p:cNvPr id="168" name="Google Shape;168;p19"/>
            <p:cNvSpPr txBox="1"/>
            <p:nvPr/>
          </p:nvSpPr>
          <p:spPr>
            <a:xfrm>
              <a:off x="266700" y="266700"/>
              <a:ext cx="3448200" cy="2800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000" b="0">
                  <a:solidFill>
                    <a:srgbClr val="2563EB"/>
                  </a:solidFill>
                  <a:latin typeface="Inter SemiBold" panose="02000503000000020004"/>
                  <a:ea typeface="Inter SemiBold" panose="02000503000000020004"/>
                  <a:cs typeface="Inter SemiBold" panose="02000503000000020004"/>
                  <a:sym typeface="Inter SemiBold" panose="02000503000000020004"/>
                </a:rPr>
                <a:t>Mise en page Responsive</a:t>
              </a:r>
              <a:endParaRPr sz="1000" b="0">
                <a:solidFill>
                  <a:srgbClr val="2563EB"/>
                </a:solidFill>
                <a:latin typeface="Inter SemiBold" panose="02000503000000020004"/>
                <a:ea typeface="Inter SemiBold" panose="02000503000000020004"/>
                <a:cs typeface="Inter SemiBold" panose="02000503000000020004"/>
                <a:sym typeface="Inter SemiBold" panose="02000503000000020004"/>
              </a:endParaRPr>
            </a:p>
            <a:p>
              <a:pPr marL="0" lvl="0" indent="0" algn="l" rtl="0">
                <a:spcBef>
                  <a:spcPts val="450"/>
                </a:spcBef>
                <a:spcAft>
                  <a:spcPts val="0"/>
                </a:spcAft>
                <a:buNone/>
              </a:pPr>
              <a:r>
                <a:rPr lang="en-US" sz="1600" b="1">
                  <a:solidFill>
                    <a:srgbClr val="1A202C"/>
                  </a:solidFill>
                  <a:latin typeface="Inter" panose="02000503000000020004"/>
                  <a:ea typeface="Inter" panose="02000503000000020004"/>
                  <a:cs typeface="Inter" panose="02000503000000020004"/>
                  <a:sym typeface="Inter" panose="02000503000000020004"/>
                </a:rPr>
                <a:t>CSS3 Adaptatif</a:t>
              </a:r>
              <a:endParaRPr sz="1600" b="1">
                <a:solidFill>
                  <a:srgbClr val="1A202C"/>
                </a:solidFill>
                <a:latin typeface="Inter" panose="02000503000000020004"/>
                <a:ea typeface="Inter" panose="02000503000000020004"/>
                <a:cs typeface="Inter" panose="02000503000000020004"/>
                <a:sym typeface="Inter" panose="02000503000000020004"/>
              </a:endParaRPr>
            </a:p>
            <a:p>
              <a:pPr marL="0" lvl="0" indent="0" algn="l" rtl="0">
                <a:spcBef>
                  <a:spcPts val="900"/>
                </a:spcBef>
                <a:spcAft>
                  <a:spcPts val="0"/>
                </a:spcAft>
                <a:buNone/>
              </a:pPr>
              <a:r>
                <a:rPr lang="en-US" sz="1300" b="0">
                  <a:solidFill>
                    <a:srgbClr val="4A5568"/>
                  </a:solidFill>
                  <a:latin typeface="Inter" panose="02000503000000020004"/>
                  <a:ea typeface="Inter" panose="02000503000000020004"/>
                  <a:cs typeface="Inter" panose="02000503000000020004"/>
                  <a:sym typeface="Inter" panose="02000503000000020004"/>
                </a:rPr>
                <a:t>La mise en page est entièrement responsive et fluide. Elle est assurée par l'utilisation avancée et combinée des modules Flexbox et CSS Grid, garantissant une adaptation parfaite de l'affichage sur l'ensemble des résolutions d'écran.</a:t>
              </a:r>
              <a:endParaRPr sz="1300" b="0">
                <a:solidFill>
                  <a:srgbClr val="4A5568"/>
                </a:solidFill>
                <a:latin typeface="Inter" panose="02000503000000020004"/>
                <a:ea typeface="Inter" panose="02000503000000020004"/>
                <a:cs typeface="Inter" panose="02000503000000020004"/>
                <a:sym typeface="Inter" panose="02000503000000020004"/>
              </a:endParaRPr>
            </a:p>
            <a:p>
              <a:pPr marL="0" lvl="0" indent="0" algn="l" rtl="0">
                <a:spcBef>
                  <a:spcPts val="1200"/>
                </a:spcBef>
                <a:spcAft>
                  <a:spcPts val="0"/>
                </a:spcAft>
                <a:buNone/>
              </a:pPr>
              <a:r>
                <a:rPr lang="en-US" sz="1000" b="0">
                  <a:solidFill>
                    <a:srgbClr val="4A5568"/>
                  </a:solidFill>
                  <a:latin typeface="Inter SemiBold" panose="02000503000000020004"/>
                  <a:ea typeface="Inter SemiBold" panose="02000503000000020004"/>
                  <a:cs typeface="Inter SemiBold" panose="02000503000000020004"/>
                  <a:sym typeface="Inter SemiBold" panose="02000503000000020004"/>
                </a:rPr>
                <a:t>Modules utilisés :</a:t>
              </a:r>
              <a:endParaRPr sz="1000" b="0">
                <a:solidFill>
                  <a:srgbClr val="4A5568"/>
                </a:solidFill>
                <a:latin typeface="Inter SemiBold" panose="02000503000000020004"/>
                <a:ea typeface="Inter SemiBold" panose="02000503000000020004"/>
                <a:cs typeface="Inter SemiBold" panose="02000503000000020004"/>
                <a:sym typeface="Inter SemiBold" panose="02000503000000020004"/>
              </a:endParaRPr>
            </a:p>
            <a:p>
              <a:pPr marL="0" lvl="0" indent="0" algn="l" rtl="0">
                <a:spcBef>
                  <a:spcPts val="450"/>
                </a:spcBef>
                <a:spcAft>
                  <a:spcPts val="0"/>
                </a:spcAft>
                <a:buNone/>
              </a:pPr>
              <a:r>
                <a:rPr lang="en-US" sz="900" b="0">
                  <a:solidFill>
                    <a:srgbClr val="2563EB"/>
                  </a:solidFill>
                  <a:latin typeface="Inter SemiBold" panose="02000503000000020004"/>
                  <a:ea typeface="Inter SemiBold" panose="02000503000000020004"/>
                  <a:cs typeface="Inter SemiBold" panose="02000503000000020004"/>
                  <a:sym typeface="Inter SemiBold" panose="02000503000000020004"/>
                </a:rPr>
                <a:t>Flexbox</a:t>
              </a:r>
              <a:r>
                <a:rPr lang="en-US"/>
                <a:t> </a:t>
              </a:r>
              <a:r>
                <a:rPr lang="en-US" sz="900" b="0">
                  <a:solidFill>
                    <a:srgbClr val="2563EB"/>
                  </a:solidFill>
                  <a:latin typeface="Inter SemiBold" panose="02000503000000020004"/>
                  <a:ea typeface="Inter SemiBold" panose="02000503000000020004"/>
                  <a:cs typeface="Inter SemiBold" panose="02000503000000020004"/>
                  <a:sym typeface="Inter SemiBold" panose="02000503000000020004"/>
                </a:rPr>
                <a:t>CSS Grid</a:t>
              </a:r>
              <a:r>
                <a:rPr lang="en-US"/>
                <a:t> </a:t>
              </a:r>
              <a:r>
                <a:rPr lang="en-US" sz="900" b="0">
                  <a:solidFill>
                    <a:srgbClr val="2563EB"/>
                  </a:solidFill>
                  <a:latin typeface="Inter SemiBold" panose="02000503000000020004"/>
                  <a:ea typeface="Inter SemiBold" panose="02000503000000020004"/>
                  <a:cs typeface="Inter SemiBold" panose="02000503000000020004"/>
                  <a:sym typeface="Inter SemiBold" panose="02000503000000020004"/>
                </a:rPr>
                <a:t>Media Queries</a:t>
              </a:r>
              <a:r>
                <a:rPr lang="en-US"/>
                <a:t> </a:t>
              </a:r>
              <a:r>
                <a:rPr lang="en-US" sz="900" b="0">
                  <a:solidFill>
                    <a:srgbClr val="2563EB"/>
                  </a:solidFill>
                  <a:latin typeface="Inter SemiBold" panose="02000503000000020004"/>
                  <a:ea typeface="Inter SemiBold" panose="02000503000000020004"/>
                  <a:cs typeface="Inter SemiBold" panose="02000503000000020004"/>
                  <a:sym typeface="Inter SemiBold" panose="02000503000000020004"/>
                </a:rPr>
                <a:t>Design Fluide</a:t>
              </a:r>
              <a:endParaRPr lang="en-US" sz="900" b="0">
                <a:solidFill>
                  <a:srgbClr val="2563EB"/>
                </a:solidFill>
                <a:latin typeface="Inter SemiBold" panose="02000503000000020004"/>
                <a:ea typeface="Inter SemiBold" panose="02000503000000020004"/>
                <a:cs typeface="Inter SemiBold" panose="02000503000000020004"/>
                <a:sym typeface="Inter SemiBold" panose="02000503000000020004"/>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72" name="Shape 172"/>
        <p:cNvGrpSpPr/>
        <p:nvPr/>
      </p:nvGrpSpPr>
      <p:grpSpPr>
        <a:xfrm>
          <a:off x="0" y="0"/>
          <a:ext cx="0" cy="0"/>
          <a:chOff x="0" y="0"/>
          <a:chExt cx="0" cy="0"/>
        </a:xfrm>
      </p:grpSpPr>
      <p:grpSp>
        <p:nvGrpSpPr>
          <p:cNvPr id="173" name="Google Shape;173;p20"/>
          <p:cNvGrpSpPr/>
          <p:nvPr/>
        </p:nvGrpSpPr>
        <p:grpSpPr>
          <a:xfrm>
            <a:off x="0" y="0"/>
            <a:ext cx="9144000" cy="5143500"/>
            <a:chOff x="0" y="0"/>
            <a:chExt cx="9144000" cy="5143500"/>
          </a:xfrm>
        </p:grpSpPr>
        <p:sp>
          <p:nvSpPr>
            <p:cNvPr id="174" name="Google Shape;174;p20"/>
            <p:cNvSpPr/>
            <p:nvPr/>
          </p:nvSpPr>
          <p:spPr>
            <a:xfrm>
              <a:off x="0" y="0"/>
              <a:ext cx="9144000" cy="51435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p>
          </p:txBody>
        </p:sp>
        <p:grpSp>
          <p:nvGrpSpPr>
            <p:cNvPr id="175" name="Google Shape;175;p20"/>
            <p:cNvGrpSpPr/>
            <p:nvPr/>
          </p:nvGrpSpPr>
          <p:grpSpPr>
            <a:xfrm>
              <a:off x="8458200" y="304800"/>
              <a:ext cx="304800" cy="304800"/>
              <a:chOff x="0" y="0"/>
              <a:chExt cx="304800" cy="304800"/>
            </a:xfrm>
          </p:grpSpPr>
          <p:sp>
            <p:nvSpPr>
              <p:cNvPr id="176" name="Google Shape;176;p20"/>
              <p:cNvSpPr/>
              <p:nvPr/>
            </p:nvSpPr>
            <p:spPr>
              <a:xfrm>
                <a:off x="0" y="0"/>
                <a:ext cx="228600" cy="228600"/>
              </a:xfrm>
              <a:prstGeom prst="roundRect">
                <a:avLst>
                  <a:gd name="adj" fmla="val 16666"/>
                </a:avLst>
              </a:prstGeom>
              <a:solidFill>
                <a:srgbClr val="DBEAFE"/>
              </a:solidFill>
              <a:ln>
                <a:noFill/>
              </a:ln>
            </p:spPr>
            <p:txBody>
              <a:bodyPr spcFirstLastPara="1" wrap="square" lIns="0" tIns="0" rIns="0" bIns="0" anchor="ctr" anchorCtr="0">
                <a:noAutofit/>
              </a:bodyPr>
              <a:lstStyle/>
              <a:p>
                <a:pPr marL="0" lvl="0" indent="0" algn="l" rtl="0">
                  <a:spcBef>
                    <a:spcPts val="0"/>
                  </a:spcBef>
                  <a:spcAft>
                    <a:spcPts val="0"/>
                  </a:spcAft>
                  <a:buNone/>
                </a:pPr>
              </a:p>
            </p:txBody>
          </p:sp>
          <p:sp>
            <p:nvSpPr>
              <p:cNvPr id="177" name="Google Shape;177;p20"/>
              <p:cNvSpPr/>
              <p:nvPr/>
            </p:nvSpPr>
            <p:spPr>
              <a:xfrm>
                <a:off x="76200" y="76200"/>
                <a:ext cx="228600" cy="228600"/>
              </a:xfrm>
              <a:prstGeom prst="roundRect">
                <a:avLst>
                  <a:gd name="adj" fmla="val 16666"/>
                </a:avLst>
              </a:prstGeom>
              <a:solidFill>
                <a:srgbClr val="2563EB"/>
              </a:solidFill>
              <a:ln>
                <a:noFill/>
              </a:ln>
            </p:spPr>
            <p:txBody>
              <a:bodyPr spcFirstLastPara="1" wrap="square" lIns="0" tIns="0" rIns="0" bIns="0" anchor="ctr" anchorCtr="0">
                <a:noAutofit/>
              </a:bodyPr>
              <a:lstStyle/>
              <a:p>
                <a:pPr marL="0" lvl="0" indent="0" algn="l" rtl="0">
                  <a:spcBef>
                    <a:spcPts val="0"/>
                  </a:spcBef>
                  <a:spcAft>
                    <a:spcPts val="0"/>
                  </a:spcAft>
                  <a:buNone/>
                </a:pPr>
              </a:p>
            </p:txBody>
          </p:sp>
        </p:grpSp>
        <p:sp>
          <p:nvSpPr>
            <p:cNvPr id="178" name="Google Shape;178;p20"/>
            <p:cNvSpPr/>
            <p:nvPr/>
          </p:nvSpPr>
          <p:spPr>
            <a:xfrm>
              <a:off x="457200" y="952500"/>
              <a:ext cx="8229600" cy="19200"/>
            </a:xfrm>
            <a:prstGeom prst="rect">
              <a:avLst/>
            </a:prstGeom>
            <a:solidFill>
              <a:srgbClr val="E2E8F0"/>
            </a:solidFill>
            <a:ln>
              <a:noFill/>
            </a:ln>
          </p:spPr>
          <p:txBody>
            <a:bodyPr spcFirstLastPara="1" wrap="square" lIns="0" tIns="0" rIns="0" bIns="0" anchor="ctr" anchorCtr="0">
              <a:noAutofit/>
            </a:bodyPr>
            <a:lstStyle/>
            <a:p>
              <a:pPr marL="0" lvl="0" indent="0" algn="l" rtl="0">
                <a:spcBef>
                  <a:spcPts val="0"/>
                </a:spcBef>
                <a:spcAft>
                  <a:spcPts val="0"/>
                </a:spcAft>
                <a:buNone/>
              </a:pPr>
            </a:p>
          </p:txBody>
        </p:sp>
      </p:grpSp>
      <p:sp>
        <p:nvSpPr>
          <p:cNvPr id="179" name="Google Shape;179;p20"/>
          <p:cNvSpPr txBox="1"/>
          <p:nvPr/>
        </p:nvSpPr>
        <p:spPr>
          <a:xfrm>
            <a:off x="457200" y="228600"/>
            <a:ext cx="7810500" cy="666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2040" b="1">
                <a:solidFill>
                  <a:srgbClr val="1A202C"/>
                </a:solidFill>
                <a:latin typeface="Inter" panose="02000503000000020004"/>
                <a:ea typeface="Inter" panose="02000503000000020004"/>
                <a:cs typeface="Inter" panose="02000503000000020004"/>
                <a:sym typeface="Inter" panose="02000503000000020004"/>
              </a:rPr>
              <a:t>Une interactivité dynamique propulsée par JavaScript Vanilla</a:t>
            </a:r>
            <a:endParaRPr sz="2040" b="1">
              <a:solidFill>
                <a:srgbClr val="1A202C"/>
              </a:solidFill>
              <a:latin typeface="Inter" panose="02000503000000020004"/>
              <a:ea typeface="Inter" panose="02000503000000020004"/>
              <a:cs typeface="Inter" panose="02000503000000020004"/>
              <a:sym typeface="Inter" panose="02000503000000020004"/>
            </a:endParaRPr>
          </a:p>
          <a:p>
            <a:pPr marL="0" lvl="0" indent="0" algn="l" rtl="0">
              <a:spcBef>
                <a:spcPts val="600"/>
              </a:spcBef>
              <a:spcAft>
                <a:spcPts val="0"/>
              </a:spcAft>
              <a:buNone/>
            </a:pPr>
            <a:r>
              <a:rPr lang="en-US" sz="935" b="0">
                <a:solidFill>
                  <a:srgbClr val="4A5568"/>
                </a:solidFill>
                <a:latin typeface="Inter" panose="02000503000000020004"/>
                <a:ea typeface="Inter" panose="02000503000000020004"/>
                <a:cs typeface="Inter" panose="02000503000000020004"/>
                <a:sym typeface="Inter" panose="02000503000000020004"/>
              </a:rPr>
              <a:t>La logique applicative du projet est modulaire, performante et répartie sur trois fichiers JavaScript clés.</a:t>
            </a:r>
            <a:endParaRPr sz="935" b="0">
              <a:solidFill>
                <a:srgbClr val="4A5568"/>
              </a:solidFill>
              <a:latin typeface="Inter" panose="02000503000000020004"/>
              <a:ea typeface="Inter" panose="02000503000000020004"/>
              <a:cs typeface="Inter" panose="02000503000000020004"/>
              <a:sym typeface="Inter" panose="02000503000000020004"/>
            </a:endParaRPr>
          </a:p>
        </p:txBody>
      </p:sp>
      <p:grpSp>
        <p:nvGrpSpPr>
          <p:cNvPr id="180" name="Google Shape;180;p20"/>
          <p:cNvGrpSpPr/>
          <p:nvPr/>
        </p:nvGrpSpPr>
        <p:grpSpPr>
          <a:xfrm>
            <a:off x="457200" y="1181100"/>
            <a:ext cx="8229750" cy="3581400"/>
            <a:chOff x="0" y="0"/>
            <a:chExt cx="8229750" cy="3581400"/>
          </a:xfrm>
        </p:grpSpPr>
        <p:grpSp>
          <p:nvGrpSpPr>
            <p:cNvPr id="181" name="Google Shape;181;p20"/>
            <p:cNvGrpSpPr/>
            <p:nvPr/>
          </p:nvGrpSpPr>
          <p:grpSpPr>
            <a:xfrm>
              <a:off x="0" y="0"/>
              <a:ext cx="2571900" cy="3581400"/>
              <a:chOff x="0" y="0"/>
              <a:chExt cx="2571900" cy="3581400"/>
            </a:xfrm>
          </p:grpSpPr>
          <p:sp>
            <p:nvSpPr>
              <p:cNvPr id="182" name="Google Shape;182;p20"/>
              <p:cNvSpPr/>
              <p:nvPr/>
            </p:nvSpPr>
            <p:spPr>
              <a:xfrm>
                <a:off x="0" y="0"/>
                <a:ext cx="2571900" cy="3581400"/>
              </a:xfrm>
              <a:prstGeom prst="roundRect">
                <a:avLst>
                  <a:gd name="adj" fmla="val 2962"/>
                </a:avLst>
              </a:prstGeom>
              <a:solidFill>
                <a:srgbClr val="F8F9FA"/>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p>
            </p:txBody>
          </p:sp>
          <p:sp>
            <p:nvSpPr>
              <p:cNvPr id="183" name="Google Shape;183;p20"/>
              <p:cNvSpPr/>
              <p:nvPr/>
            </p:nvSpPr>
            <p:spPr>
              <a:xfrm>
                <a:off x="0" y="0"/>
                <a:ext cx="2571900" cy="57300"/>
              </a:xfrm>
              <a:prstGeom prst="roundRect">
                <a:avLst>
                  <a:gd name="adj" fmla="val 50000"/>
                </a:avLst>
              </a:prstGeom>
              <a:solidFill>
                <a:srgbClr val="2563EB"/>
              </a:solidFill>
              <a:ln>
                <a:noFill/>
              </a:ln>
            </p:spPr>
            <p:txBody>
              <a:bodyPr spcFirstLastPara="1" wrap="square" lIns="0" tIns="0" rIns="0" bIns="0" anchor="ctr" anchorCtr="0">
                <a:noAutofit/>
              </a:bodyPr>
              <a:lstStyle/>
              <a:p>
                <a:pPr marL="0" lvl="0" indent="0" algn="l" rtl="0">
                  <a:spcBef>
                    <a:spcPts val="0"/>
                  </a:spcBef>
                  <a:spcAft>
                    <a:spcPts val="0"/>
                  </a:spcAft>
                  <a:buNone/>
                </a:pPr>
              </a:p>
            </p:txBody>
          </p:sp>
          <p:sp>
            <p:nvSpPr>
              <p:cNvPr id="184" name="Google Shape;184;p20"/>
              <p:cNvSpPr txBox="1"/>
              <p:nvPr/>
            </p:nvSpPr>
            <p:spPr>
              <a:xfrm>
                <a:off x="190500" y="228600"/>
                <a:ext cx="2190900" cy="3143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000" b="0">
                    <a:solidFill>
                      <a:srgbClr val="2563EB"/>
                    </a:solidFill>
                    <a:latin typeface="Inter SemiBold" panose="02000503000000020004"/>
                    <a:ea typeface="Inter SemiBold" panose="02000503000000020004"/>
                    <a:cs typeface="Inter SemiBold" panose="02000503000000020004"/>
                    <a:sym typeface="Inter SemiBold" panose="02000503000000020004"/>
                  </a:rPr>
                  <a:t>MODULE DONNÉES</a:t>
                </a:r>
                <a:endParaRPr sz="1000" b="0">
                  <a:solidFill>
                    <a:srgbClr val="2563EB"/>
                  </a:solidFill>
                  <a:latin typeface="Inter SemiBold" panose="02000503000000020004"/>
                  <a:ea typeface="Inter SemiBold" panose="02000503000000020004"/>
                  <a:cs typeface="Inter SemiBold" panose="02000503000000020004"/>
                  <a:sym typeface="Inter SemiBold" panose="02000503000000020004"/>
                </a:endParaRPr>
              </a:p>
              <a:p>
                <a:pPr marL="0" lvl="0" indent="0" algn="l" rtl="0">
                  <a:spcBef>
                    <a:spcPts val="450"/>
                  </a:spcBef>
                  <a:spcAft>
                    <a:spcPts val="0"/>
                  </a:spcAft>
                  <a:buNone/>
                </a:pPr>
                <a:r>
                  <a:rPr lang="en-US" sz="1500" b="0">
                    <a:solidFill>
                      <a:srgbClr val="2563EB"/>
                    </a:solidFill>
                    <a:latin typeface="Arial" panose="020B0604020202020204"/>
                    <a:ea typeface="Arial" panose="020B0604020202020204"/>
                    <a:cs typeface="Arial" panose="020B0604020202020204"/>
                    <a:sym typeface="Arial" panose="020B0604020202020204"/>
                  </a:rPr>
                  <a:t>articles.js</a:t>
                </a:r>
                <a:endParaRPr sz="1500" b="0">
                  <a:solidFill>
                    <a:srgbClr val="2563EB"/>
                  </a:solidFill>
                  <a:latin typeface="Arial" panose="020B0604020202020204"/>
                  <a:ea typeface="Arial" panose="020B0604020202020204"/>
                  <a:cs typeface="Arial" panose="020B0604020202020204"/>
                  <a:sym typeface="Arial" panose="020B0604020202020204"/>
                </a:endParaRPr>
              </a:p>
              <a:p>
                <a:pPr marL="0" lvl="0" indent="0" algn="l" rtl="0">
                  <a:spcBef>
                    <a:spcPts val="900"/>
                  </a:spcBef>
                  <a:spcAft>
                    <a:spcPts val="900"/>
                  </a:spcAft>
                  <a:buNone/>
                </a:pPr>
                <a:r>
                  <a:rPr lang="en-US" sz="1100" b="0">
                    <a:solidFill>
                      <a:srgbClr val="4A5568"/>
                    </a:solidFill>
                    <a:latin typeface="Inter" panose="02000503000000020004"/>
                    <a:ea typeface="Inter" panose="02000503000000020004"/>
                    <a:cs typeface="Inter" panose="02000503000000020004"/>
                    <a:sym typeface="Inter" panose="02000503000000020004"/>
                  </a:rPr>
                  <a:t>Le fichier </a:t>
                </a:r>
                <a:r>
                  <a:rPr lang="en-US" sz="1100" b="0">
                    <a:solidFill>
                      <a:srgbClr val="1A202C"/>
                    </a:solidFill>
                    <a:latin typeface="Arial" panose="020B0604020202020204"/>
                    <a:ea typeface="Arial" panose="020B0604020202020204"/>
                    <a:cs typeface="Arial" panose="020B0604020202020204"/>
                    <a:sym typeface="Arial" panose="020B0604020202020204"/>
                  </a:rPr>
                  <a:t>'articles.js'</a:t>
                </a:r>
                <a:r>
                  <a:rPr lang="en-US" sz="1100" b="0">
                    <a:solidFill>
                      <a:srgbClr val="4A5568"/>
                    </a:solidFill>
                    <a:latin typeface="Inter" panose="02000503000000020004"/>
                    <a:ea typeface="Inter" panose="02000503000000020004"/>
                    <a:cs typeface="Inter" panose="02000503000000020004"/>
                    <a:sym typeface="Inter" panose="02000503000000020004"/>
                  </a:rPr>
                  <a:t> assure le stockage local et structuré des données des projets sous forme de tableau d'objets.</a:t>
                </a:r>
                <a:endParaRPr sz="1100" b="0">
                  <a:solidFill>
                    <a:srgbClr val="4A5568"/>
                  </a:solidFill>
                  <a:latin typeface="Inter" panose="02000503000000020004"/>
                  <a:ea typeface="Inter" panose="02000503000000020004"/>
                  <a:cs typeface="Inter" panose="02000503000000020004"/>
                  <a:sym typeface="Inter" panose="02000503000000020004"/>
                </a:endParaRPr>
              </a:p>
            </p:txBody>
          </p:sp>
        </p:grpSp>
        <p:grpSp>
          <p:nvGrpSpPr>
            <p:cNvPr id="185" name="Google Shape;185;p20"/>
            <p:cNvGrpSpPr/>
            <p:nvPr/>
          </p:nvGrpSpPr>
          <p:grpSpPr>
            <a:xfrm>
              <a:off x="2828925" y="0"/>
              <a:ext cx="2571900" cy="3581400"/>
              <a:chOff x="0" y="0"/>
              <a:chExt cx="2571900" cy="3581400"/>
            </a:xfrm>
          </p:grpSpPr>
          <p:sp>
            <p:nvSpPr>
              <p:cNvPr id="186" name="Google Shape;186;p20"/>
              <p:cNvSpPr/>
              <p:nvPr/>
            </p:nvSpPr>
            <p:spPr>
              <a:xfrm>
                <a:off x="0" y="0"/>
                <a:ext cx="2571900" cy="3581400"/>
              </a:xfrm>
              <a:prstGeom prst="roundRect">
                <a:avLst>
                  <a:gd name="adj" fmla="val 2962"/>
                </a:avLst>
              </a:prstGeom>
              <a:solidFill>
                <a:srgbClr val="F8F9FA"/>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p>
            </p:txBody>
          </p:sp>
          <p:sp>
            <p:nvSpPr>
              <p:cNvPr id="187" name="Google Shape;187;p20"/>
              <p:cNvSpPr/>
              <p:nvPr/>
            </p:nvSpPr>
            <p:spPr>
              <a:xfrm>
                <a:off x="0" y="0"/>
                <a:ext cx="2571900" cy="57300"/>
              </a:xfrm>
              <a:prstGeom prst="roundRect">
                <a:avLst>
                  <a:gd name="adj" fmla="val 50000"/>
                </a:avLst>
              </a:prstGeom>
              <a:solidFill>
                <a:srgbClr val="2563EB"/>
              </a:solidFill>
              <a:ln>
                <a:noFill/>
              </a:ln>
            </p:spPr>
            <p:txBody>
              <a:bodyPr spcFirstLastPara="1" wrap="square" lIns="0" tIns="0" rIns="0" bIns="0" anchor="ctr" anchorCtr="0">
                <a:noAutofit/>
              </a:bodyPr>
              <a:lstStyle/>
              <a:p>
                <a:pPr marL="0" lvl="0" indent="0" algn="l" rtl="0">
                  <a:spcBef>
                    <a:spcPts val="0"/>
                  </a:spcBef>
                  <a:spcAft>
                    <a:spcPts val="0"/>
                  </a:spcAft>
                  <a:buNone/>
                </a:pPr>
              </a:p>
            </p:txBody>
          </p:sp>
          <p:sp>
            <p:nvSpPr>
              <p:cNvPr id="188" name="Google Shape;188;p20"/>
              <p:cNvSpPr txBox="1"/>
              <p:nvPr/>
            </p:nvSpPr>
            <p:spPr>
              <a:xfrm>
                <a:off x="190500" y="228600"/>
                <a:ext cx="2190900" cy="3143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000" b="0">
                    <a:solidFill>
                      <a:srgbClr val="2563EB"/>
                    </a:solidFill>
                    <a:latin typeface="Inter SemiBold" panose="02000503000000020004"/>
                    <a:ea typeface="Inter SemiBold" panose="02000503000000020004"/>
                    <a:cs typeface="Inter SemiBold" panose="02000503000000020004"/>
                    <a:sym typeface="Inter SemiBold" panose="02000503000000020004"/>
                  </a:rPr>
                  <a:t>PAGE D'ACCUEIL</a:t>
                </a:r>
                <a:endParaRPr sz="1000" b="0">
                  <a:solidFill>
                    <a:srgbClr val="2563EB"/>
                  </a:solidFill>
                  <a:latin typeface="Inter SemiBold" panose="02000503000000020004"/>
                  <a:ea typeface="Inter SemiBold" panose="02000503000000020004"/>
                  <a:cs typeface="Inter SemiBold" panose="02000503000000020004"/>
                  <a:sym typeface="Inter SemiBold" panose="02000503000000020004"/>
                </a:endParaRPr>
              </a:p>
              <a:p>
                <a:pPr marL="0" lvl="0" indent="0" algn="l" rtl="0">
                  <a:spcBef>
                    <a:spcPts val="450"/>
                  </a:spcBef>
                  <a:spcAft>
                    <a:spcPts val="0"/>
                  </a:spcAft>
                  <a:buNone/>
                </a:pPr>
                <a:r>
                  <a:rPr lang="en-US" sz="1500" b="0">
                    <a:solidFill>
                      <a:srgbClr val="2563EB"/>
                    </a:solidFill>
                    <a:latin typeface="Arial" panose="020B0604020202020204"/>
                    <a:ea typeface="Arial" panose="020B0604020202020204"/>
                    <a:cs typeface="Arial" panose="020B0604020202020204"/>
                    <a:sym typeface="Arial" panose="020B0604020202020204"/>
                  </a:rPr>
                  <a:t>main.js</a:t>
                </a:r>
                <a:endParaRPr sz="1500" b="0">
                  <a:solidFill>
                    <a:srgbClr val="2563EB"/>
                  </a:solidFill>
                  <a:latin typeface="Arial" panose="020B0604020202020204"/>
                  <a:ea typeface="Arial" panose="020B0604020202020204"/>
                  <a:cs typeface="Arial" panose="020B0604020202020204"/>
                  <a:sym typeface="Arial" panose="020B0604020202020204"/>
                </a:endParaRPr>
              </a:p>
              <a:p>
                <a:pPr marL="0" lvl="0" indent="0" algn="l" rtl="0">
                  <a:spcBef>
                    <a:spcPts val="900"/>
                  </a:spcBef>
                  <a:spcAft>
                    <a:spcPts val="900"/>
                  </a:spcAft>
                  <a:buNone/>
                </a:pPr>
                <a:r>
                  <a:rPr lang="en-US" sz="1100" b="0">
                    <a:solidFill>
                      <a:srgbClr val="4A5568"/>
                    </a:solidFill>
                    <a:latin typeface="Inter" panose="02000503000000020004"/>
                    <a:ea typeface="Inter" panose="02000503000000020004"/>
                    <a:cs typeface="Inter" panose="02000503000000020004"/>
                    <a:sym typeface="Inter" panose="02000503000000020004"/>
                  </a:rPr>
                  <a:t>Le script </a:t>
                </a:r>
                <a:r>
                  <a:rPr lang="en-US" sz="1100" b="0">
                    <a:solidFill>
                      <a:srgbClr val="1A202C"/>
                    </a:solidFill>
                    <a:latin typeface="Arial" panose="020B0604020202020204"/>
                    <a:ea typeface="Arial" panose="020B0604020202020204"/>
                    <a:cs typeface="Arial" panose="020B0604020202020204"/>
                    <a:sym typeface="Arial" panose="020B0604020202020204"/>
                  </a:rPr>
                  <a:t>'main.js'</a:t>
                </a:r>
                <a:r>
                  <a:rPr lang="en-US" sz="1100" b="0">
                    <a:solidFill>
                      <a:srgbClr val="4A5568"/>
                    </a:solidFill>
                    <a:latin typeface="Inter" panose="02000503000000020004"/>
                    <a:ea typeface="Inter" panose="02000503000000020004"/>
                    <a:cs typeface="Inter" panose="02000503000000020004"/>
                    <a:sym typeface="Inter" panose="02000503000000020004"/>
                  </a:rPr>
                  <a:t> gère l'interactivité de la page d'accueil, offrant une recherche instantanée et un filtrage dynamique des éléments du DOM via la méthode </a:t>
                </a:r>
                <a:r>
                  <a:rPr lang="en-US" sz="1100" b="0">
                    <a:solidFill>
                      <a:srgbClr val="1A202C"/>
                    </a:solidFill>
                    <a:latin typeface="Arial" panose="020B0604020202020204"/>
                    <a:ea typeface="Arial" panose="020B0604020202020204"/>
                    <a:cs typeface="Arial" panose="020B0604020202020204"/>
                    <a:sym typeface="Arial" panose="020B0604020202020204"/>
                  </a:rPr>
                  <a:t>filter()</a:t>
                </a:r>
                <a:r>
                  <a:rPr lang="en-US" sz="1100" b="0">
                    <a:solidFill>
                      <a:srgbClr val="4A5568"/>
                    </a:solidFill>
                    <a:latin typeface="Inter" panose="02000503000000020004"/>
                    <a:ea typeface="Inter" panose="02000503000000020004"/>
                    <a:cs typeface="Inter" panose="02000503000000020004"/>
                    <a:sym typeface="Inter" panose="02000503000000020004"/>
                  </a:rPr>
                  <a:t>.</a:t>
                </a:r>
                <a:endParaRPr sz="1100" b="0">
                  <a:solidFill>
                    <a:srgbClr val="4A5568"/>
                  </a:solidFill>
                  <a:latin typeface="Inter" panose="02000503000000020004"/>
                  <a:ea typeface="Inter" panose="02000503000000020004"/>
                  <a:cs typeface="Inter" panose="02000503000000020004"/>
                  <a:sym typeface="Inter" panose="02000503000000020004"/>
                </a:endParaRPr>
              </a:p>
            </p:txBody>
          </p:sp>
        </p:grpSp>
        <p:grpSp>
          <p:nvGrpSpPr>
            <p:cNvPr id="189" name="Google Shape;189;p20"/>
            <p:cNvGrpSpPr/>
            <p:nvPr/>
          </p:nvGrpSpPr>
          <p:grpSpPr>
            <a:xfrm>
              <a:off x="5657850" y="0"/>
              <a:ext cx="2571900" cy="3581400"/>
              <a:chOff x="0" y="0"/>
              <a:chExt cx="2571900" cy="3581400"/>
            </a:xfrm>
          </p:grpSpPr>
          <p:sp>
            <p:nvSpPr>
              <p:cNvPr id="190" name="Google Shape;190;p20"/>
              <p:cNvSpPr/>
              <p:nvPr/>
            </p:nvSpPr>
            <p:spPr>
              <a:xfrm>
                <a:off x="0" y="0"/>
                <a:ext cx="2571900" cy="3581400"/>
              </a:xfrm>
              <a:prstGeom prst="roundRect">
                <a:avLst>
                  <a:gd name="adj" fmla="val 2962"/>
                </a:avLst>
              </a:prstGeom>
              <a:solidFill>
                <a:srgbClr val="F8F9FA"/>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p>
            </p:txBody>
          </p:sp>
          <p:sp>
            <p:nvSpPr>
              <p:cNvPr id="191" name="Google Shape;191;p20"/>
              <p:cNvSpPr/>
              <p:nvPr/>
            </p:nvSpPr>
            <p:spPr>
              <a:xfrm>
                <a:off x="0" y="0"/>
                <a:ext cx="2571900" cy="57300"/>
              </a:xfrm>
              <a:prstGeom prst="roundRect">
                <a:avLst>
                  <a:gd name="adj" fmla="val 50000"/>
                </a:avLst>
              </a:prstGeom>
              <a:solidFill>
                <a:srgbClr val="2563EB"/>
              </a:solidFill>
              <a:ln>
                <a:noFill/>
              </a:ln>
            </p:spPr>
            <p:txBody>
              <a:bodyPr spcFirstLastPara="1" wrap="square" lIns="0" tIns="0" rIns="0" bIns="0" anchor="ctr" anchorCtr="0">
                <a:noAutofit/>
              </a:bodyPr>
              <a:lstStyle/>
              <a:p>
                <a:pPr marL="0" lvl="0" indent="0" algn="l" rtl="0">
                  <a:spcBef>
                    <a:spcPts val="0"/>
                  </a:spcBef>
                  <a:spcAft>
                    <a:spcPts val="0"/>
                  </a:spcAft>
                  <a:buNone/>
                </a:pPr>
              </a:p>
            </p:txBody>
          </p:sp>
          <p:sp>
            <p:nvSpPr>
              <p:cNvPr id="192" name="Google Shape;192;p20"/>
              <p:cNvSpPr txBox="1"/>
              <p:nvPr/>
            </p:nvSpPr>
            <p:spPr>
              <a:xfrm>
                <a:off x="190500" y="228600"/>
                <a:ext cx="2190900" cy="3143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000" b="0">
                    <a:solidFill>
                      <a:srgbClr val="2563EB"/>
                    </a:solidFill>
                    <a:latin typeface="Inter SemiBold" panose="02000503000000020004"/>
                    <a:ea typeface="Inter SemiBold" panose="02000503000000020004"/>
                    <a:cs typeface="Inter SemiBold" panose="02000503000000020004"/>
                    <a:sym typeface="Inter SemiBold" panose="02000503000000020004"/>
                  </a:rPr>
                  <a:t>ROUTAGE &amp; DÉTAILS</a:t>
                </a:r>
                <a:endParaRPr sz="1000" b="0">
                  <a:solidFill>
                    <a:srgbClr val="2563EB"/>
                  </a:solidFill>
                  <a:latin typeface="Inter SemiBold" panose="02000503000000020004"/>
                  <a:ea typeface="Inter SemiBold" panose="02000503000000020004"/>
                  <a:cs typeface="Inter SemiBold" panose="02000503000000020004"/>
                  <a:sym typeface="Inter SemiBold" panose="02000503000000020004"/>
                </a:endParaRPr>
              </a:p>
              <a:p>
                <a:pPr marL="0" lvl="0" indent="0" algn="l" rtl="0">
                  <a:spcBef>
                    <a:spcPts val="450"/>
                  </a:spcBef>
                  <a:spcAft>
                    <a:spcPts val="0"/>
                  </a:spcAft>
                  <a:buNone/>
                </a:pPr>
                <a:r>
                  <a:rPr lang="en-US" sz="1500" b="0">
                    <a:solidFill>
                      <a:srgbClr val="2563EB"/>
                    </a:solidFill>
                    <a:latin typeface="Arial" panose="020B0604020202020204"/>
                    <a:ea typeface="Arial" panose="020B0604020202020204"/>
                    <a:cs typeface="Arial" panose="020B0604020202020204"/>
                    <a:sym typeface="Arial" panose="020B0604020202020204"/>
                  </a:rPr>
                  <a:t>article.js</a:t>
                </a:r>
                <a:endParaRPr sz="1500" b="0">
                  <a:solidFill>
                    <a:srgbClr val="2563EB"/>
                  </a:solidFill>
                  <a:latin typeface="Arial" panose="020B0604020202020204"/>
                  <a:ea typeface="Arial" panose="020B0604020202020204"/>
                  <a:cs typeface="Arial" panose="020B0604020202020204"/>
                  <a:sym typeface="Arial" panose="020B0604020202020204"/>
                </a:endParaRPr>
              </a:p>
              <a:p>
                <a:pPr marL="0" lvl="0" indent="0" algn="l" rtl="0">
                  <a:spcBef>
                    <a:spcPts val="900"/>
                  </a:spcBef>
                  <a:spcAft>
                    <a:spcPts val="900"/>
                  </a:spcAft>
                  <a:buNone/>
                </a:pPr>
                <a:r>
                  <a:rPr lang="en-US" sz="1100" b="0">
                    <a:solidFill>
                      <a:srgbClr val="4A5568"/>
                    </a:solidFill>
                    <a:latin typeface="Inter" panose="02000503000000020004"/>
                    <a:ea typeface="Inter" panose="02000503000000020004"/>
                    <a:cs typeface="Inter" panose="02000503000000020004"/>
                    <a:sym typeface="Inter" panose="02000503000000020004"/>
                  </a:rPr>
                  <a:t>Enfin, </a:t>
                </a:r>
                <a:r>
                  <a:rPr lang="en-US" sz="1100" b="0">
                    <a:solidFill>
                      <a:srgbClr val="1A202C"/>
                    </a:solidFill>
                    <a:latin typeface="Arial" panose="020B0604020202020204"/>
                    <a:ea typeface="Arial" panose="020B0604020202020204"/>
                    <a:cs typeface="Arial" panose="020B0604020202020204"/>
                    <a:sym typeface="Arial" panose="020B0604020202020204"/>
                  </a:rPr>
                  <a:t>'article.js'</a:t>
                </a:r>
                <a:r>
                  <a:rPr lang="en-US" sz="1100" b="0">
                    <a:solidFill>
                      <a:srgbClr val="4A5568"/>
                    </a:solidFill>
                    <a:latin typeface="Inter" panose="02000503000000020004"/>
                    <a:ea typeface="Inter" panose="02000503000000020004"/>
                    <a:cs typeface="Inter" panose="02000503000000020004"/>
                    <a:sym typeface="Inter" panose="02000503000000020004"/>
                  </a:rPr>
                  <a:t> pilote le routage et l'affichage dynamique des données spécifiques du projet ciblé en exploitant l'API native </a:t>
                </a:r>
                <a:r>
                  <a:rPr lang="en-US" sz="1100" b="0">
                    <a:solidFill>
                      <a:srgbClr val="1A202C"/>
                    </a:solidFill>
                    <a:latin typeface="Arial" panose="020B0604020202020204"/>
                    <a:ea typeface="Arial" panose="020B0604020202020204"/>
                    <a:cs typeface="Arial" panose="020B0604020202020204"/>
                    <a:sym typeface="Arial" panose="020B0604020202020204"/>
                  </a:rPr>
                  <a:t>URLSearchParams</a:t>
                </a:r>
                <a:r>
                  <a:rPr lang="en-US" sz="1100" b="0">
                    <a:solidFill>
                      <a:srgbClr val="4A5568"/>
                    </a:solidFill>
                    <a:latin typeface="Inter" panose="02000503000000020004"/>
                    <a:ea typeface="Inter" panose="02000503000000020004"/>
                    <a:cs typeface="Inter" panose="02000503000000020004"/>
                    <a:sym typeface="Inter" panose="02000503000000020004"/>
                  </a:rPr>
                  <a:t>.</a:t>
                </a:r>
                <a:endParaRPr sz="1100" b="0">
                  <a:solidFill>
                    <a:srgbClr val="4A5568"/>
                  </a:solidFill>
                  <a:latin typeface="Inter" panose="02000503000000020004"/>
                  <a:ea typeface="Inter" panose="02000503000000020004"/>
                  <a:cs typeface="Inter" panose="02000503000000020004"/>
                  <a:sym typeface="Inter" panose="02000503000000020004"/>
                </a:endParaRPr>
              </a:p>
            </p:txBody>
          </p:sp>
        </p:gr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96" name="Shape 196"/>
        <p:cNvGrpSpPr/>
        <p:nvPr/>
      </p:nvGrpSpPr>
      <p:grpSpPr>
        <a:xfrm>
          <a:off x="0" y="0"/>
          <a:ext cx="0" cy="0"/>
          <a:chOff x="0" y="0"/>
          <a:chExt cx="0" cy="0"/>
        </a:xfrm>
      </p:grpSpPr>
      <p:sp>
        <p:nvSpPr>
          <p:cNvPr id="197" name="Google Shape;197;p21"/>
          <p:cNvSpPr/>
          <p:nvPr/>
        </p:nvSpPr>
        <p:spPr>
          <a:xfrm>
            <a:off x="0" y="0"/>
            <a:ext cx="9144000" cy="51435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p>
        </p:txBody>
      </p:sp>
      <p:grpSp>
        <p:nvGrpSpPr>
          <p:cNvPr id="198" name="Google Shape;198;p21"/>
          <p:cNvGrpSpPr/>
          <p:nvPr/>
        </p:nvGrpSpPr>
        <p:grpSpPr>
          <a:xfrm>
            <a:off x="8458200" y="304800"/>
            <a:ext cx="304800" cy="304800"/>
            <a:chOff x="0" y="0"/>
            <a:chExt cx="304800" cy="304800"/>
          </a:xfrm>
        </p:grpSpPr>
        <p:sp>
          <p:nvSpPr>
            <p:cNvPr id="199" name="Google Shape;199;p21"/>
            <p:cNvSpPr/>
            <p:nvPr/>
          </p:nvSpPr>
          <p:spPr>
            <a:xfrm>
              <a:off x="0" y="0"/>
              <a:ext cx="228600" cy="228600"/>
            </a:xfrm>
            <a:prstGeom prst="roundRect">
              <a:avLst>
                <a:gd name="adj" fmla="val 16666"/>
              </a:avLst>
            </a:prstGeom>
            <a:solidFill>
              <a:srgbClr val="DBEAFE"/>
            </a:solidFill>
            <a:ln>
              <a:noFill/>
            </a:ln>
          </p:spPr>
          <p:txBody>
            <a:bodyPr spcFirstLastPara="1" wrap="square" lIns="0" tIns="0" rIns="0" bIns="0" anchor="ctr" anchorCtr="0">
              <a:noAutofit/>
            </a:bodyPr>
            <a:lstStyle/>
            <a:p>
              <a:pPr marL="0" lvl="0" indent="0" algn="l" rtl="0">
                <a:spcBef>
                  <a:spcPts val="0"/>
                </a:spcBef>
                <a:spcAft>
                  <a:spcPts val="0"/>
                </a:spcAft>
                <a:buNone/>
              </a:pPr>
            </a:p>
          </p:txBody>
        </p:sp>
        <p:sp>
          <p:nvSpPr>
            <p:cNvPr id="200" name="Google Shape;200;p21"/>
            <p:cNvSpPr/>
            <p:nvPr/>
          </p:nvSpPr>
          <p:spPr>
            <a:xfrm>
              <a:off x="76200" y="76200"/>
              <a:ext cx="228600" cy="228600"/>
            </a:xfrm>
            <a:prstGeom prst="roundRect">
              <a:avLst>
                <a:gd name="adj" fmla="val 16666"/>
              </a:avLst>
            </a:prstGeom>
            <a:solidFill>
              <a:srgbClr val="2563EB"/>
            </a:solidFill>
            <a:ln>
              <a:noFill/>
            </a:ln>
          </p:spPr>
          <p:txBody>
            <a:bodyPr spcFirstLastPara="1" wrap="square" lIns="0" tIns="0" rIns="0" bIns="0" anchor="ctr" anchorCtr="0">
              <a:noAutofit/>
            </a:bodyPr>
            <a:lstStyle/>
            <a:p>
              <a:pPr marL="0" lvl="0" indent="0" algn="l" rtl="0">
                <a:spcBef>
                  <a:spcPts val="0"/>
                </a:spcBef>
                <a:spcAft>
                  <a:spcPts val="0"/>
                </a:spcAft>
                <a:buNone/>
              </a:pPr>
            </a:p>
          </p:txBody>
        </p:sp>
      </p:grpSp>
      <p:sp>
        <p:nvSpPr>
          <p:cNvPr id="201" name="Google Shape;201;p21"/>
          <p:cNvSpPr txBox="1"/>
          <p:nvPr/>
        </p:nvSpPr>
        <p:spPr>
          <a:xfrm>
            <a:off x="457200" y="266700"/>
            <a:ext cx="7620000" cy="571500"/>
          </a:xfrm>
          <a:prstGeom prst="rect">
            <a:avLst/>
          </a:prstGeom>
          <a:noFill/>
          <a:ln>
            <a:noFill/>
          </a:ln>
        </p:spPr>
        <p:txBody>
          <a:bodyPr spcFirstLastPara="1" wrap="square" lIns="0" tIns="0" rIns="0" bIns="0" anchor="t" anchorCtr="0">
            <a:noAutofit/>
          </a:bodyPr>
          <a:lstStyle/>
          <a:p>
            <a:pPr marL="0" lvl="0" indent="0" algn="l" rtl="0">
              <a:spcBef>
                <a:spcPts val="0"/>
              </a:spcBef>
              <a:spcAft>
                <a:spcPts val="900"/>
              </a:spcAft>
              <a:buNone/>
            </a:pPr>
            <a:r>
              <a:rPr lang="en-US" sz="2040" b="1">
                <a:solidFill>
                  <a:srgbClr val="1A202C"/>
                </a:solidFill>
                <a:latin typeface="Inter" panose="02000503000000020004"/>
                <a:ea typeface="Inter" panose="02000503000000020004"/>
                <a:cs typeface="Inter" panose="02000503000000020004"/>
                <a:sym typeface="Inter" panose="02000503000000020004"/>
              </a:rPr>
              <a:t>Une collaboration efficace pour un résultat opérationnel</a:t>
            </a:r>
            <a:endParaRPr sz="2040" b="1">
              <a:solidFill>
                <a:srgbClr val="1A202C"/>
              </a:solidFill>
              <a:latin typeface="Inter" panose="02000503000000020004"/>
              <a:ea typeface="Inter" panose="02000503000000020004"/>
              <a:cs typeface="Inter" panose="02000503000000020004"/>
              <a:sym typeface="Inter" panose="02000503000000020004"/>
            </a:endParaRPr>
          </a:p>
        </p:txBody>
      </p:sp>
      <p:pic>
        <p:nvPicPr>
          <p:cNvPr id="202" name="Google Shape;202;p21"/>
          <p:cNvPicPr preferRelativeResize="0"/>
          <p:nvPr/>
        </p:nvPicPr>
        <p:blipFill rotWithShape="1">
          <a:blip r:embed="rId1"/>
          <a:srcRect/>
          <a:stretch>
            <a:fillRect/>
          </a:stretch>
        </p:blipFill>
        <p:spPr>
          <a:xfrm>
            <a:off x="457200" y="838200"/>
            <a:ext cx="9144000" cy="19200"/>
          </a:xfrm>
          <a:prstGeom prst="rect">
            <a:avLst/>
          </a:prstGeom>
          <a:noFill/>
          <a:ln>
            <a:noFill/>
          </a:ln>
        </p:spPr>
      </p:pic>
      <p:grpSp>
        <p:nvGrpSpPr>
          <p:cNvPr id="203" name="Google Shape;203;p21"/>
          <p:cNvGrpSpPr/>
          <p:nvPr/>
        </p:nvGrpSpPr>
        <p:grpSpPr>
          <a:xfrm>
            <a:off x="457200" y="1066800"/>
            <a:ext cx="6134100" cy="1714500"/>
            <a:chOff x="0" y="0"/>
            <a:chExt cx="6134100" cy="1714500"/>
          </a:xfrm>
        </p:grpSpPr>
        <p:sp>
          <p:nvSpPr>
            <p:cNvPr id="204" name="Google Shape;204;p21"/>
            <p:cNvSpPr txBox="1"/>
            <p:nvPr/>
          </p:nvSpPr>
          <p:spPr>
            <a:xfrm>
              <a:off x="0" y="0"/>
              <a:ext cx="1943100" cy="17145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US" sz="1000" b="0" i="0">
                  <a:solidFill>
                    <a:srgbClr val="2563EB"/>
                  </a:solidFill>
                  <a:latin typeface="Inter SemiBold" panose="02000503000000020004"/>
                  <a:ea typeface="Inter SemiBold" panose="02000503000000020004"/>
                  <a:cs typeface="Inter SemiBold" panose="02000503000000020004"/>
                  <a:sym typeface="Inter SemiBold" panose="02000503000000020004"/>
                </a:rPr>
                <a:t>Rôle</a:t>
              </a:r>
              <a:endParaRPr sz="1000" b="0" i="0">
                <a:solidFill>
                  <a:srgbClr val="2563EB"/>
                </a:solidFill>
                <a:latin typeface="Inter SemiBold" panose="02000503000000020004"/>
                <a:ea typeface="Inter SemiBold" panose="02000503000000020004"/>
                <a:cs typeface="Inter SemiBold" panose="02000503000000020004"/>
                <a:sym typeface="Inter SemiBold" panose="02000503000000020004"/>
              </a:endParaRPr>
            </a:p>
            <a:p>
              <a:pPr marL="0" lvl="0" indent="0" algn="l" rtl="0">
                <a:spcBef>
                  <a:spcPts val="300"/>
                </a:spcBef>
                <a:spcAft>
                  <a:spcPts val="0"/>
                </a:spcAft>
                <a:buNone/>
              </a:pPr>
              <a:r>
                <a:rPr lang="en-US" sz="1400" b="0" i="0">
                  <a:solidFill>
                    <a:srgbClr val="1A202C"/>
                  </a:solidFill>
                  <a:latin typeface="Inter SemiBold" panose="02000503000000020004"/>
                  <a:ea typeface="Inter SemiBold" panose="02000503000000020004"/>
                  <a:cs typeface="Inter SemiBold" panose="02000503000000020004"/>
                  <a:sym typeface="Inter SemiBold" panose="02000503000000020004"/>
                </a:rPr>
                <a:t>Saad</a:t>
              </a:r>
              <a:endParaRPr sz="1000" b="0" i="0">
                <a:solidFill>
                  <a:srgbClr val="2563EB"/>
                </a:solidFill>
                <a:latin typeface="Inter SemiBold" panose="02000503000000020004"/>
                <a:ea typeface="Inter SemiBold" panose="02000503000000020004"/>
                <a:cs typeface="Inter SemiBold" panose="02000503000000020004"/>
                <a:sym typeface="Inter SemiBold" panose="02000503000000020004"/>
              </a:endParaRPr>
            </a:p>
            <a:p>
              <a:pPr marL="0" lvl="0" indent="0" algn="l" rtl="0">
                <a:spcBef>
                  <a:spcPts val="300"/>
                </a:spcBef>
                <a:spcAft>
                  <a:spcPts val="300"/>
                </a:spcAft>
                <a:buNone/>
              </a:pPr>
              <a:r>
                <a:rPr lang="en-US" sz="1050" b="0" i="0">
                  <a:solidFill>
                    <a:srgbClr val="4A5568"/>
                  </a:solidFill>
                  <a:latin typeface="Inter" panose="02000503000000020004"/>
                  <a:ea typeface="Inter" panose="02000503000000020004"/>
                  <a:cs typeface="Inter" panose="02000503000000020004"/>
                  <a:sym typeface="Inter" panose="02000503000000020004"/>
                </a:rPr>
                <a:t>A piloté la conception UI/UX sur Figma ainsi que le développement de la logique JavaScript.</a:t>
              </a:r>
              <a:endParaRPr sz="1000" b="0" i="0">
                <a:solidFill>
                  <a:srgbClr val="2563EB"/>
                </a:solidFill>
                <a:latin typeface="Inter SemiBold" panose="02000503000000020004"/>
                <a:ea typeface="Inter SemiBold" panose="02000503000000020004"/>
                <a:cs typeface="Inter SemiBold" panose="02000503000000020004"/>
                <a:sym typeface="Inter SemiBold" panose="02000503000000020004"/>
              </a:endParaRPr>
            </a:p>
          </p:txBody>
        </p:sp>
        <p:sp>
          <p:nvSpPr>
            <p:cNvPr id="205" name="Google Shape;205;p21"/>
            <p:cNvSpPr txBox="1"/>
            <p:nvPr/>
          </p:nvSpPr>
          <p:spPr>
            <a:xfrm>
              <a:off x="2095500" y="0"/>
              <a:ext cx="1943100" cy="17145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US" sz="1000" b="0" i="0">
                  <a:solidFill>
                    <a:srgbClr val="2563EB"/>
                  </a:solidFill>
                  <a:latin typeface="Inter SemiBold" panose="02000503000000020004"/>
                  <a:ea typeface="Inter SemiBold" panose="02000503000000020004"/>
                  <a:cs typeface="Inter SemiBold" panose="02000503000000020004"/>
                  <a:sym typeface="Inter SemiBold" panose="02000503000000020004"/>
                </a:rPr>
                <a:t>Rôle</a:t>
              </a:r>
              <a:endParaRPr sz="1000" b="0" i="0">
                <a:solidFill>
                  <a:srgbClr val="2563EB"/>
                </a:solidFill>
                <a:latin typeface="Inter SemiBold" panose="02000503000000020004"/>
                <a:ea typeface="Inter SemiBold" panose="02000503000000020004"/>
                <a:cs typeface="Inter SemiBold" panose="02000503000000020004"/>
                <a:sym typeface="Inter SemiBold" panose="02000503000000020004"/>
              </a:endParaRPr>
            </a:p>
            <a:p>
              <a:pPr marL="0" lvl="0" indent="0" algn="l" rtl="0">
                <a:spcBef>
                  <a:spcPts val="300"/>
                </a:spcBef>
                <a:spcAft>
                  <a:spcPts val="0"/>
                </a:spcAft>
                <a:buNone/>
              </a:pPr>
              <a:r>
                <a:rPr lang="en-US" sz="1400" b="0" i="0">
                  <a:solidFill>
                    <a:srgbClr val="1A202C"/>
                  </a:solidFill>
                  <a:latin typeface="Inter SemiBold" panose="02000503000000020004"/>
                  <a:ea typeface="Inter SemiBold" panose="02000503000000020004"/>
                  <a:cs typeface="Inter SemiBold" panose="02000503000000020004"/>
                  <a:sym typeface="Inter SemiBold" panose="02000503000000020004"/>
                </a:rPr>
                <a:t>Mohamed</a:t>
              </a:r>
              <a:endParaRPr sz="1000" b="0" i="0">
                <a:solidFill>
                  <a:srgbClr val="2563EB"/>
                </a:solidFill>
                <a:latin typeface="Inter SemiBold" panose="02000503000000020004"/>
                <a:ea typeface="Inter SemiBold" panose="02000503000000020004"/>
                <a:cs typeface="Inter SemiBold" panose="02000503000000020004"/>
                <a:sym typeface="Inter SemiBold" panose="02000503000000020004"/>
              </a:endParaRPr>
            </a:p>
            <a:p>
              <a:pPr marL="0" lvl="0" indent="0" algn="l" rtl="0">
                <a:spcBef>
                  <a:spcPts val="300"/>
                </a:spcBef>
                <a:spcAft>
                  <a:spcPts val="300"/>
                </a:spcAft>
                <a:buNone/>
              </a:pPr>
              <a:r>
                <a:rPr lang="en-US" sz="1050" b="0" i="0">
                  <a:solidFill>
                    <a:srgbClr val="4A5568"/>
                  </a:solidFill>
                  <a:latin typeface="Inter" panose="02000503000000020004"/>
                  <a:ea typeface="Inter" panose="02000503000000020004"/>
                  <a:cs typeface="Inter" panose="02000503000000020004"/>
                  <a:sym typeface="Inter" panose="02000503000000020004"/>
                </a:rPr>
                <a:t>S'est concentré sur l'intégration sémantique HTML5 et la construction de la vue détail.</a:t>
              </a:r>
              <a:endParaRPr sz="1000" b="0" i="0">
                <a:solidFill>
                  <a:srgbClr val="2563EB"/>
                </a:solidFill>
                <a:latin typeface="Inter SemiBold" panose="02000503000000020004"/>
                <a:ea typeface="Inter SemiBold" panose="02000503000000020004"/>
                <a:cs typeface="Inter SemiBold" panose="02000503000000020004"/>
                <a:sym typeface="Inter SemiBold" panose="02000503000000020004"/>
              </a:endParaRPr>
            </a:p>
          </p:txBody>
        </p:sp>
        <p:sp>
          <p:nvSpPr>
            <p:cNvPr id="206" name="Google Shape;206;p21"/>
            <p:cNvSpPr txBox="1"/>
            <p:nvPr/>
          </p:nvSpPr>
          <p:spPr>
            <a:xfrm>
              <a:off x="4191000" y="0"/>
              <a:ext cx="1943100" cy="17145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US" sz="1000" b="0" i="0">
                  <a:solidFill>
                    <a:srgbClr val="2563EB"/>
                  </a:solidFill>
                  <a:latin typeface="Inter SemiBold" panose="02000503000000020004"/>
                  <a:ea typeface="Inter SemiBold" panose="02000503000000020004"/>
                  <a:cs typeface="Inter SemiBold" panose="02000503000000020004"/>
                  <a:sym typeface="Inter SemiBold" panose="02000503000000020004"/>
                </a:rPr>
                <a:t>Rôle</a:t>
              </a:r>
              <a:endParaRPr sz="1000" b="0" i="0">
                <a:solidFill>
                  <a:srgbClr val="2563EB"/>
                </a:solidFill>
                <a:latin typeface="Inter SemiBold" panose="02000503000000020004"/>
                <a:ea typeface="Inter SemiBold" panose="02000503000000020004"/>
                <a:cs typeface="Inter SemiBold" panose="02000503000000020004"/>
                <a:sym typeface="Inter SemiBold" panose="02000503000000020004"/>
              </a:endParaRPr>
            </a:p>
            <a:p>
              <a:pPr marL="0" lvl="0" indent="0" algn="l" rtl="0">
                <a:spcBef>
                  <a:spcPts val="300"/>
                </a:spcBef>
                <a:spcAft>
                  <a:spcPts val="0"/>
                </a:spcAft>
                <a:buNone/>
              </a:pPr>
              <a:r>
                <a:rPr lang="en-US" sz="1400" b="0" i="0">
                  <a:solidFill>
                    <a:srgbClr val="1A202C"/>
                  </a:solidFill>
                  <a:latin typeface="Inter SemiBold" panose="02000503000000020004"/>
                  <a:ea typeface="Inter SemiBold" panose="02000503000000020004"/>
                  <a:cs typeface="Inter SemiBold" panose="02000503000000020004"/>
                  <a:sym typeface="Inter SemiBold" panose="02000503000000020004"/>
                </a:rPr>
                <a:t>Reda</a:t>
              </a:r>
              <a:endParaRPr sz="1000" b="0" i="0">
                <a:solidFill>
                  <a:srgbClr val="2563EB"/>
                </a:solidFill>
                <a:latin typeface="Inter SemiBold" panose="02000503000000020004"/>
                <a:ea typeface="Inter SemiBold" panose="02000503000000020004"/>
                <a:cs typeface="Inter SemiBold" panose="02000503000000020004"/>
                <a:sym typeface="Inter SemiBold" panose="02000503000000020004"/>
              </a:endParaRPr>
            </a:p>
            <a:p>
              <a:pPr marL="0" lvl="0" indent="0" algn="l" rtl="0">
                <a:spcBef>
                  <a:spcPts val="300"/>
                </a:spcBef>
                <a:spcAft>
                  <a:spcPts val="300"/>
                </a:spcAft>
                <a:buNone/>
              </a:pPr>
              <a:r>
                <a:rPr lang="en-US" sz="1050" b="0" i="0">
                  <a:solidFill>
                    <a:srgbClr val="4A5568"/>
                  </a:solidFill>
                  <a:latin typeface="Inter" panose="02000503000000020004"/>
                  <a:ea typeface="Inter" panose="02000503000000020004"/>
                  <a:cs typeface="Inter" panose="02000503000000020004"/>
                  <a:sym typeface="Inter" panose="02000503000000020004"/>
                </a:rPr>
                <a:t>A géré la stylisation avancée en CSS3 et la structuration des données du hub.</a:t>
              </a:r>
              <a:endParaRPr sz="1000" b="0" i="0">
                <a:solidFill>
                  <a:srgbClr val="2563EB"/>
                </a:solidFill>
                <a:latin typeface="Inter SemiBold" panose="02000503000000020004"/>
                <a:ea typeface="Inter SemiBold" panose="02000503000000020004"/>
                <a:cs typeface="Inter SemiBold" panose="02000503000000020004"/>
                <a:sym typeface="Inter SemiBold" panose="02000503000000020004"/>
              </a:endParaRPr>
            </a:p>
          </p:txBody>
        </p:sp>
      </p:grpSp>
      <p:grpSp>
        <p:nvGrpSpPr>
          <p:cNvPr id="207" name="Google Shape;207;p21"/>
          <p:cNvGrpSpPr/>
          <p:nvPr/>
        </p:nvGrpSpPr>
        <p:grpSpPr>
          <a:xfrm>
            <a:off x="457200" y="2952750"/>
            <a:ext cx="8229600" cy="1714500"/>
            <a:chOff x="0" y="0"/>
            <a:chExt cx="8229600" cy="1714500"/>
          </a:xfrm>
        </p:grpSpPr>
        <p:sp>
          <p:nvSpPr>
            <p:cNvPr id="208" name="Google Shape;208;p21"/>
            <p:cNvSpPr/>
            <p:nvPr/>
          </p:nvSpPr>
          <p:spPr>
            <a:xfrm>
              <a:off x="0" y="0"/>
              <a:ext cx="8229600" cy="1714500"/>
            </a:xfrm>
            <a:prstGeom prst="roundRect">
              <a:avLst>
                <a:gd name="adj" fmla="val 4444"/>
              </a:avLst>
            </a:prstGeom>
            <a:solidFill>
              <a:srgbClr val="2563EB"/>
            </a:solidFill>
            <a:ln>
              <a:noFill/>
            </a:ln>
          </p:spPr>
          <p:txBody>
            <a:bodyPr spcFirstLastPara="1" wrap="square" lIns="0" tIns="0" rIns="0" bIns="0" anchor="ctr" anchorCtr="0">
              <a:noAutofit/>
            </a:bodyPr>
            <a:lstStyle/>
            <a:p>
              <a:pPr marL="0" lvl="0" indent="0" algn="l" rtl="0">
                <a:spcBef>
                  <a:spcPts val="0"/>
                </a:spcBef>
                <a:spcAft>
                  <a:spcPts val="0"/>
                </a:spcAft>
                <a:buNone/>
              </a:pPr>
            </a:p>
          </p:txBody>
        </p:sp>
        <p:pic>
          <p:nvPicPr>
            <p:cNvPr id="209" name="Google Shape;209;p21"/>
            <p:cNvPicPr preferRelativeResize="0"/>
            <p:nvPr/>
          </p:nvPicPr>
          <p:blipFill rotWithShape="1">
            <a:blip r:embed="rId2"/>
            <a:srcRect/>
            <a:stretch>
              <a:fillRect/>
            </a:stretch>
          </p:blipFill>
          <p:spPr>
            <a:xfrm>
              <a:off x="4763" y="4763"/>
              <a:ext cx="8220000" cy="1552500"/>
            </a:xfrm>
            <a:prstGeom prst="rect">
              <a:avLst/>
            </a:prstGeom>
            <a:noFill/>
            <a:ln>
              <a:noFill/>
            </a:ln>
          </p:spPr>
        </p:pic>
        <p:sp>
          <p:nvSpPr>
            <p:cNvPr id="210" name="Google Shape;210;p21"/>
            <p:cNvSpPr/>
            <p:nvPr/>
          </p:nvSpPr>
          <p:spPr>
            <a:xfrm>
              <a:off x="0" y="0"/>
              <a:ext cx="76200" cy="1714500"/>
            </a:xfrm>
            <a:prstGeom prst="roundRect">
              <a:avLst>
                <a:gd name="adj" fmla="val 50000"/>
              </a:avLst>
            </a:prstGeom>
            <a:solidFill>
              <a:srgbClr val="DBEAFE"/>
            </a:solidFill>
            <a:ln>
              <a:noFill/>
            </a:ln>
          </p:spPr>
          <p:txBody>
            <a:bodyPr spcFirstLastPara="1" wrap="square" lIns="0" tIns="0" rIns="0" bIns="0" anchor="ctr" anchorCtr="0">
              <a:noAutofit/>
            </a:bodyPr>
            <a:lstStyle/>
            <a:p>
              <a:pPr marL="0" lvl="0" indent="0" algn="l" rtl="0">
                <a:spcBef>
                  <a:spcPts val="0"/>
                </a:spcBef>
                <a:spcAft>
                  <a:spcPts val="0"/>
                </a:spcAft>
                <a:buNone/>
              </a:pPr>
            </a:p>
          </p:txBody>
        </p:sp>
        <p:sp>
          <p:nvSpPr>
            <p:cNvPr id="211" name="Google Shape;211;p21"/>
            <p:cNvSpPr txBox="1"/>
            <p:nvPr/>
          </p:nvSpPr>
          <p:spPr>
            <a:xfrm>
              <a:off x="342900" y="228600"/>
              <a:ext cx="7543800" cy="12573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600" b="0">
                  <a:solidFill>
                    <a:srgbClr val="DBEAFE"/>
                  </a:solidFill>
                  <a:latin typeface="Inter SemiBold" panose="02000503000000020004"/>
                  <a:ea typeface="Inter SemiBold" panose="02000503000000020004"/>
                  <a:cs typeface="Inter SemiBold" panose="02000503000000020004"/>
                  <a:sym typeface="Inter SemiBold" panose="02000503000000020004"/>
                </a:rPr>
                <a:t>Bilan du Projet</a:t>
              </a:r>
              <a:endParaRPr sz="1600" b="0">
                <a:solidFill>
                  <a:srgbClr val="DBEAFE"/>
                </a:solidFill>
                <a:latin typeface="Inter SemiBold" panose="02000503000000020004"/>
                <a:ea typeface="Inter SemiBold" panose="02000503000000020004"/>
                <a:cs typeface="Inter SemiBold" panose="02000503000000020004"/>
                <a:sym typeface="Inter SemiBold" panose="02000503000000020004"/>
              </a:endParaRPr>
            </a:p>
            <a:p>
              <a:pPr marL="0" lvl="0" indent="0" algn="l" rtl="0">
                <a:spcBef>
                  <a:spcPts val="600"/>
                </a:spcBef>
                <a:spcAft>
                  <a:spcPts val="900"/>
                </a:spcAft>
                <a:buNone/>
              </a:pPr>
              <a:r>
                <a:rPr lang="en-US" sz="1250" b="0">
                  <a:solidFill>
                    <a:srgbClr val="F8F9FA"/>
                  </a:solidFill>
                  <a:latin typeface="Inter" panose="02000503000000020004"/>
                  <a:ea typeface="Inter" panose="02000503000000020004"/>
                  <a:cs typeface="Inter" panose="02000503000000020004"/>
                  <a:sym typeface="Inter" panose="02000503000000020004"/>
                </a:rPr>
                <a:t>L'équipe a assuré le respect strict des cinq exigences techniques imposées par le cahier des charges, livrant avec succès une application web fluide, hautement interactive et pleinement opérationnelle pour le jury.</a:t>
              </a:r>
              <a:endParaRPr sz="1250" b="0">
                <a:solidFill>
                  <a:srgbClr val="F8F9FA"/>
                </a:solidFill>
                <a:latin typeface="Inter" panose="02000503000000020004"/>
                <a:ea typeface="Inter" panose="02000503000000020004"/>
                <a:cs typeface="Inter" panose="02000503000000020004"/>
                <a:sym typeface="Inter" panose="02000503000000020004"/>
              </a:endParaRPr>
            </a:p>
          </p:txBody>
        </p:sp>
      </p:grpSp>
      <p:sp>
        <p:nvSpPr>
          <p:cNvPr id="212" name="Google Shape;212;p21"/>
          <p:cNvSpPr txBox="1"/>
          <p:nvPr/>
        </p:nvSpPr>
        <p:spPr>
          <a:xfrm>
            <a:off x="6743700" y="1066800"/>
            <a:ext cx="1943100" cy="17145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US" sz="1000" b="0" i="0">
                <a:solidFill>
                  <a:srgbClr val="2563EB"/>
                </a:solidFill>
                <a:latin typeface="Inter SemiBold" panose="02000503000000020004"/>
                <a:ea typeface="Inter SemiBold" panose="02000503000000020004"/>
                <a:cs typeface="Inter SemiBold" panose="02000503000000020004"/>
                <a:sym typeface="Inter SemiBold" panose="02000503000000020004"/>
              </a:rPr>
              <a:t>Rôle</a:t>
            </a:r>
            <a:endParaRPr sz="1000" b="0" i="0">
              <a:solidFill>
                <a:srgbClr val="2563EB"/>
              </a:solidFill>
              <a:latin typeface="Inter SemiBold" panose="02000503000000020004"/>
              <a:ea typeface="Inter SemiBold" panose="02000503000000020004"/>
              <a:cs typeface="Inter SemiBold" panose="02000503000000020004"/>
              <a:sym typeface="Inter SemiBold" panose="02000503000000020004"/>
            </a:endParaRPr>
          </a:p>
          <a:p>
            <a:pPr marL="0" lvl="0" indent="0" algn="l" rtl="0">
              <a:spcBef>
                <a:spcPts val="300"/>
              </a:spcBef>
              <a:spcAft>
                <a:spcPts val="0"/>
              </a:spcAft>
              <a:buNone/>
            </a:pPr>
            <a:r>
              <a:rPr lang="en-US" sz="1400" b="0" i="0">
                <a:solidFill>
                  <a:srgbClr val="1A202C"/>
                </a:solidFill>
                <a:latin typeface="Inter SemiBold" panose="02000503000000020004"/>
                <a:ea typeface="Inter SemiBold" panose="02000503000000020004"/>
                <a:cs typeface="Inter SemiBold" panose="02000503000000020004"/>
                <a:sym typeface="Inter SemiBold" panose="02000503000000020004"/>
              </a:rPr>
              <a:t>Yassine</a:t>
            </a:r>
            <a:endParaRPr sz="1000" b="0" i="0">
              <a:solidFill>
                <a:srgbClr val="2563EB"/>
              </a:solidFill>
              <a:latin typeface="Inter SemiBold" panose="02000503000000020004"/>
              <a:ea typeface="Inter SemiBold" panose="02000503000000020004"/>
              <a:cs typeface="Inter SemiBold" panose="02000503000000020004"/>
              <a:sym typeface="Inter SemiBold" panose="02000503000000020004"/>
            </a:endParaRPr>
          </a:p>
          <a:p>
            <a:pPr marL="0" lvl="0" indent="0" algn="l" rtl="0">
              <a:spcBef>
                <a:spcPts val="300"/>
              </a:spcBef>
              <a:spcAft>
                <a:spcPts val="300"/>
              </a:spcAft>
              <a:buNone/>
            </a:pPr>
            <a:r>
              <a:rPr lang="en-US" sz="1050" b="0" i="0">
                <a:solidFill>
                  <a:srgbClr val="4A5568"/>
                </a:solidFill>
                <a:latin typeface="Inter" panose="02000503000000020004"/>
                <a:ea typeface="Inter" panose="02000503000000020004"/>
                <a:cs typeface="Inter" panose="02000503000000020004"/>
                <a:sym typeface="Inter" panose="02000503000000020004"/>
              </a:rPr>
              <a:t>Recette et tests fonctionnels de l'application, validation de la conformité du cahier des charges et élaboration des supports de présentation.</a:t>
            </a:r>
            <a:endParaRPr sz="1000" b="0" i="0">
              <a:solidFill>
                <a:srgbClr val="2563EB"/>
              </a:solidFill>
              <a:latin typeface="Inter SemiBold" panose="02000503000000020004"/>
              <a:ea typeface="Inter SemiBold" panose="02000503000000020004"/>
              <a:cs typeface="Inter SemiBold" panose="02000503000000020004"/>
              <a:sym typeface="Inter SemiBold" panose="02000503000000020004"/>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4743</Words>
  <Application>WPS Presentation</Application>
  <PresentationFormat/>
  <Paragraphs>123</Paragraphs>
  <Slides>8</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8</vt:i4>
      </vt:variant>
    </vt:vector>
  </HeadingPairs>
  <TitlesOfParts>
    <vt:vector size="17" baseType="lpstr">
      <vt:lpstr>Arial</vt:lpstr>
      <vt:lpstr>SimSun</vt:lpstr>
      <vt:lpstr>Wingdings</vt:lpstr>
      <vt:lpstr>Arial</vt:lpstr>
      <vt:lpstr>Inter SemiBold</vt:lpstr>
      <vt:lpstr>Inter</vt:lpstr>
      <vt:lpstr>Microsoft YaHei</vt:lpstr>
      <vt:lpstr>Arial Unicode MS</vt:lpstr>
      <vt:lpstr>Simple Light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saadm</cp:lastModifiedBy>
  <cp:revision>1</cp:revision>
  <dcterms:created xsi:type="dcterms:W3CDTF">2026-10-08T08:53:33Z</dcterms:created>
  <dcterms:modified xsi:type="dcterms:W3CDTF">2026-10-08T08:53:34Z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EBD530A3F1944C9DBFF60AAE2C6B0C3E_12</vt:lpwstr>
  </property>
  <property fmtid="{D5CDD505-2E9C-101B-9397-08002B2CF9AE}" pid="3" name="KSOProductBuildVer">
    <vt:lpwstr>1036-12.1.0.28485</vt:lpwstr>
  </property>
</Properties>
</file>